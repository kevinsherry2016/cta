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GMV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</c:v>
                </c:pt>
              </c:strCache>
            </c:strRef>
          </c:tx>
          <c:spPr>
            <a:ln w="31750">
              <a:solidFill>
                <a:srgbClr val="2F5F98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  <c:pt idx="12">
                  <c:v>2025-01</c:v>
                </c:pt>
                <c:pt idx="13">
                  <c:v>2025-02</c:v>
                </c:pt>
                <c:pt idx="14">
                  <c:v>2025-03</c:v>
                </c:pt>
                <c:pt idx="15">
                  <c:v>2025-04</c:v>
                </c:pt>
                <c:pt idx="16">
                  <c:v>2025-05</c:v>
                </c:pt>
                <c:pt idx="17">
                  <c:v>2025-06</c:v>
                </c:pt>
                <c:pt idx="18">
                  <c:v>2025-07</c:v>
                </c:pt>
                <c:pt idx="19">
                  <c:v>2025-08</c:v>
                </c:pt>
                <c:pt idx="20">
                  <c:v>2025-09</c:v>
                </c:pt>
                <c:pt idx="21">
                  <c:v>2025-10</c:v>
                </c:pt>
                <c:pt idx="22">
                  <c:v>2025-11</c:v>
                </c:pt>
                <c:pt idx="23">
                  <c:v>2025-12</c:v>
                </c:pt>
                <c:pt idx="24">
                  <c:v>2026-01</c:v>
                </c:pt>
                <c:pt idx="25">
                  <c:v>2026-02</c:v>
                </c:pt>
                <c:pt idx="26">
                  <c:v>2026-03</c:v>
                </c:pt>
                <c:pt idx="27">
                  <c:v>2026-04</c:v>
                </c:pt>
                <c:pt idx="28">
                  <c:v>2026-05</c:v>
                </c:pt>
                <c:pt idx="29">
                  <c:v>2026-06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2.8</c:v>
                </c:pt>
                <c:pt idx="1">
                  <c:v>3.2</c:v>
                </c:pt>
                <c:pt idx="2">
                  <c:v>2.5</c:v>
                </c:pt>
                <c:pt idx="3">
                  <c:v>3.6</c:v>
                </c:pt>
                <c:pt idx="4">
                  <c:v>2.3</c:v>
                </c:pt>
                <c:pt idx="5">
                  <c:v>3.8</c:v>
                </c:pt>
                <c:pt idx="6">
                  <c:v>3.1</c:v>
                </c:pt>
                <c:pt idx="7">
                  <c:v>2.6</c:v>
                </c:pt>
                <c:pt idx="8">
                  <c:v>3.4</c:v>
                </c:pt>
                <c:pt idx="9">
                  <c:v>2.9</c:v>
                </c:pt>
                <c:pt idx="10">
                  <c:v>3.7</c:v>
                </c:pt>
                <c:pt idx="11">
                  <c:v>2.4</c:v>
                </c:pt>
                <c:pt idx="12">
                  <c:v>3.3</c:v>
                </c:pt>
                <c:pt idx="13">
                  <c:v>2.7</c:v>
                </c:pt>
                <c:pt idx="14">
                  <c:v>3.9</c:v>
                </c:pt>
                <c:pt idx="15">
                  <c:v>2.2</c:v>
                </c:pt>
                <c:pt idx="16">
                  <c:v>3.5</c:v>
                </c:pt>
                <c:pt idx="17">
                  <c:v>2.8</c:v>
                </c:pt>
                <c:pt idx="18">
                  <c:v>3.2</c:v>
                </c:pt>
                <c:pt idx="19">
                  <c:v>2.5</c:v>
                </c:pt>
                <c:pt idx="20">
                  <c:v>3.7</c:v>
                </c:pt>
                <c:pt idx="21">
                  <c:v>3.0</c:v>
                </c:pt>
                <c:pt idx="22">
                  <c:v>2.4</c:v>
                </c:pt>
                <c:pt idx="23">
                  <c:v>3.6</c:v>
                </c:pt>
                <c:pt idx="24">
                  <c:v>2.9</c:v>
                </c:pt>
                <c:pt idx="25">
                  <c:v>3.3</c:v>
                </c:pt>
                <c:pt idx="26">
                  <c:v>2.6</c:v>
                </c:pt>
                <c:pt idx="27">
                  <c:v>3.8</c:v>
                </c:pt>
                <c:pt idx="28">
                  <c:v>2.3</c:v>
                </c:pt>
                <c:pt idx="29">
                  <c:v>3.1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Delta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ln w="31750">
              <a:solidFill>
                <a:srgbClr val="2F5F98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  <c:pt idx="12">
                  <c:v>2025-01</c:v>
                </c:pt>
                <c:pt idx="13">
                  <c:v>2025-02</c:v>
                </c:pt>
                <c:pt idx="14">
                  <c:v>2025-03</c:v>
                </c:pt>
                <c:pt idx="15">
                  <c:v>2025-04</c:v>
                </c:pt>
                <c:pt idx="16">
                  <c:v>2025-05</c:v>
                </c:pt>
                <c:pt idx="17">
                  <c:v>2025-06</c:v>
                </c:pt>
                <c:pt idx="18">
                  <c:v>2025-07</c:v>
                </c:pt>
                <c:pt idx="19">
                  <c:v>2025-08</c:v>
                </c:pt>
                <c:pt idx="20">
                  <c:v>2025-09</c:v>
                </c:pt>
                <c:pt idx="21">
                  <c:v>2025-10</c:v>
                </c:pt>
                <c:pt idx="22">
                  <c:v>2025-11</c:v>
                </c:pt>
                <c:pt idx="23">
                  <c:v>2025-12</c:v>
                </c:pt>
                <c:pt idx="24">
                  <c:v>2026-01</c:v>
                </c:pt>
                <c:pt idx="25">
                  <c:v>2026-02</c:v>
                </c:pt>
                <c:pt idx="26">
                  <c:v>2026-03</c:v>
                </c:pt>
                <c:pt idx="27">
                  <c:v>2026-04</c:v>
                </c:pt>
                <c:pt idx="28">
                  <c:v>2026-05</c:v>
                </c:pt>
                <c:pt idx="29">
                  <c:v>2026-06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-0.5</c:v>
                </c:pt>
                <c:pt idx="1">
                  <c:v>-0.3</c:v>
                </c:pt>
                <c:pt idx="2">
                  <c:v>0.4</c:v>
                </c:pt>
                <c:pt idx="3">
                  <c:v>0.1</c:v>
                </c:pt>
                <c:pt idx="4">
                  <c:v>0.8</c:v>
                </c:pt>
                <c:pt idx="5">
                  <c:v>1.2</c:v>
                </c:pt>
                <c:pt idx="6">
                  <c:v>1.5</c:v>
                </c:pt>
                <c:pt idx="7">
                  <c:v>0.9</c:v>
                </c:pt>
                <c:pt idx="8">
                  <c:v>0.3</c:v>
                </c:pt>
                <c:pt idx="9">
                  <c:v>-0.4</c:v>
                </c:pt>
                <c:pt idx="10">
                  <c:v>-0.9</c:v>
                </c:pt>
                <c:pt idx="11">
                  <c:v>0.2</c:v>
                </c:pt>
                <c:pt idx="12">
                  <c:v>-0.7</c:v>
                </c:pt>
                <c:pt idx="13">
                  <c:v>-0.2</c:v>
                </c:pt>
                <c:pt idx="14">
                  <c:v>0.6</c:v>
                </c:pt>
                <c:pt idx="15">
                  <c:v>0.3</c:v>
                </c:pt>
                <c:pt idx="16">
                  <c:v>1.0</c:v>
                </c:pt>
                <c:pt idx="17">
                  <c:v>1.8</c:v>
                </c:pt>
                <c:pt idx="18">
                  <c:v>2.1</c:v>
                </c:pt>
                <c:pt idx="19">
                  <c:v>1.3</c:v>
                </c:pt>
                <c:pt idx="20">
                  <c:v>0.6</c:v>
                </c:pt>
                <c:pt idx="21">
                  <c:v>-0.1</c:v>
                </c:pt>
                <c:pt idx="22">
                  <c:v>-0.8</c:v>
                </c:pt>
                <c:pt idx="23">
                  <c:v>0.3</c:v>
                </c:pt>
                <c:pt idx="24">
                  <c:v>-1.4</c:v>
                </c:pt>
                <c:pt idx="25">
                  <c:v>-0.8</c:v>
                </c:pt>
                <c:pt idx="26">
                  <c:v>0.2</c:v>
                </c:pt>
                <c:pt idx="27">
                  <c:v>-0.3</c:v>
                </c:pt>
                <c:pt idx="28">
                  <c:v>1.1</c:v>
                </c:pt>
                <c:pt idx="29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.0"/>
          <c:min val="-2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PnL 工作日分布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PnL</c:v>
                </c:pt>
              </c:strCache>
            </c:strRef>
          </c:tx>
          <c:spPr>
            <a:solidFill>
              <a:srgbClr val="2F5F98"/>
            </a:solidFill>
          </c:spPr>
          <c:cat>
            <c:strRef>
              <c:f>Sheet1!$A$2:$A$6</c:f>
              <c:strCache>
                <c:ptCount val="5"/>
                <c:pt idx="0">
                  <c:v>周一</c:v>
                </c:pt>
                <c:pt idx="1">
                  <c:v>周二</c:v>
                </c:pt>
                <c:pt idx="2">
                  <c:v>周三</c:v>
                </c:pt>
                <c:pt idx="3">
                  <c:v>周四</c:v>
                </c:pt>
                <c:pt idx="4">
                  <c:v>周五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</c:v>
                </c:pt>
                <c:pt idx="1">
                  <c:v>0.08</c:v>
                </c:pt>
                <c:pt idx="2">
                  <c:v>-0.03</c:v>
                </c:pt>
                <c:pt idx="3">
                  <c:v>0.15</c:v>
                </c:pt>
                <c:pt idx="4">
                  <c:v>0.09</c:v>
                </c:pt>
              </c:numCache>
            </c:numRef>
          </c:val>
          <c:invertIfNegative val="0"/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5"/>
          <c:min val="-0.15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PnL 月份分布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PnL</c:v>
                </c:pt>
              </c:strCache>
            </c:strRef>
          </c:tx>
          <c:spPr>
            <a:solidFill>
              <a:srgbClr val="2F5F98"/>
            </a:solidFill>
          </c:spP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0.18</c:v>
                </c:pt>
                <c:pt idx="1">
                  <c:v>-0.05</c:v>
                </c:pt>
                <c:pt idx="2">
                  <c:v>0.22</c:v>
                </c:pt>
                <c:pt idx="3">
                  <c:v>0.07</c:v>
                </c:pt>
                <c:pt idx="4">
                  <c:v>-0.11</c:v>
                </c:pt>
                <c:pt idx="5">
                  <c:v>0.14</c:v>
                </c:pt>
                <c:pt idx="6">
                  <c:v>0.09</c:v>
                </c:pt>
                <c:pt idx="7">
                  <c:v>0.03</c:v>
                </c:pt>
                <c:pt idx="8">
                  <c:v>0.16</c:v>
                </c:pt>
                <c:pt idx="9">
                  <c:v>-0.08</c:v>
                </c:pt>
                <c:pt idx="10">
                  <c:v>0.2</c:v>
                </c:pt>
                <c:pt idx="11">
                  <c:v>0.11</c:v>
                </c:pt>
              </c:numCache>
            </c:numRef>
          </c:val>
          <c:invertIfNegative val="0"/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"/>
          <c:min val="-0.15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累计收益率 / 累计残差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累计收益率</c:v>
                </c:pt>
              </c:strCache>
            </c:strRef>
          </c:tx>
          <c:spPr>
            <a:ln w="38100">
              <a:solidFill>
                <a:srgbClr val="2F5F98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13</c:v>
                </c:pt>
                <c:pt idx="2">
                  <c:v>28</c:v>
                </c:pt>
                <c:pt idx="3">
                  <c:v>20</c:v>
                </c:pt>
                <c:pt idx="4">
                  <c:v>40</c:v>
                </c:pt>
                <c:pt idx="5">
                  <c:v>58</c:v>
                </c:pt>
                <c:pt idx="6">
                  <c:v>78</c:v>
                </c:pt>
                <c:pt idx="7">
                  <c:v>68</c:v>
                </c:pt>
                <c:pt idx="8">
                  <c:v>90</c:v>
                </c:pt>
                <c:pt idx="9">
                  <c:v>110</c:v>
                </c:pt>
                <c:pt idx="10">
                  <c:v>133</c:v>
                </c:pt>
                <c:pt idx="11">
                  <c:v>123</c:v>
                </c:pt>
                <c:pt idx="12">
                  <c:v>153</c:v>
                </c:pt>
                <c:pt idx="13">
                  <c:v>175</c:v>
                </c:pt>
                <c:pt idx="14">
                  <c:v>198</c:v>
                </c:pt>
                <c:pt idx="15">
                  <c:v>183</c:v>
                </c:pt>
                <c:pt idx="16">
                  <c:v>215</c:v>
                </c:pt>
                <c:pt idx="17">
                  <c:v>238</c:v>
                </c:pt>
                <c:pt idx="18">
                  <c:v>260</c:v>
                </c:pt>
                <c:pt idx="19">
                  <c:v>280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累计残差</c:v>
                </c:pt>
              </c:strCache>
            </c:strRef>
          </c:tx>
          <c:spPr>
            <a:ln w="38100">
              <a:solidFill>
                <a:srgbClr val="B64F4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5</c:v>
                </c:pt>
                <c:pt idx="4">
                  <c:v>10</c:v>
                </c:pt>
                <c:pt idx="5">
                  <c:v>14</c:v>
                </c:pt>
                <c:pt idx="6">
                  <c:v>19</c:v>
                </c:pt>
                <c:pt idx="7">
                  <c:v>17</c:v>
                </c:pt>
                <c:pt idx="8">
                  <c:v>22</c:v>
                </c:pt>
                <c:pt idx="9">
                  <c:v>27</c:v>
                </c:pt>
                <c:pt idx="10">
                  <c:v>33</c:v>
                </c:pt>
                <c:pt idx="11">
                  <c:v>30</c:v>
                </c:pt>
                <c:pt idx="12">
                  <c:v>37</c:v>
                </c:pt>
                <c:pt idx="13">
                  <c:v>43</c:v>
                </c:pt>
                <c:pt idx="14">
                  <c:v>49</c:v>
                </c:pt>
                <c:pt idx="15">
                  <c:v>46</c:v>
                </c:pt>
                <c:pt idx="16">
                  <c:v>54</c:v>
                </c:pt>
                <c:pt idx="17">
                  <c:v>61</c:v>
                </c:pt>
                <c:pt idx="18">
                  <c:v>68</c:v>
                </c:pt>
                <c:pt idx="19">
                  <c:v>80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194560" cy="109728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2194560" cy="109728"/>
          </a:xfrm>
          <a:prstGeom prst="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82495"/>
            <a:ext cx="2194560" cy="109728"/>
          </a:xfrm>
          <a:prstGeom prst="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874519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CTA</a:t>
            </a:r>
            <a:br/>
            <a:r>
              <a:t>投研框架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32B4A"/>
                </a:solidFill>
                <a:latin typeface="Microsoft YaHei"/>
              </a:defRPr>
            </a:pPr>
            <a:r>
              <a:t>从数据、因子到组合与执行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6217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23944"/>
                </a:solidFill>
                <a:latin typeface="Microsoft YaHei"/>
              </a:defRPr>
            </a:pPr>
            <a:r>
              <a:t>CTA 投研框架总览</a:t>
            </a:r>
          </a:p>
          <a:p>
            <a:pPr>
              <a:spcAft>
                <a:spcPts val="10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聚焦策略研发的关键链路：数据、因子、评估、组合、风控、执行</a:t>
            </a:r>
          </a:p>
          <a:p>
            <a:pPr>
              <a:spcAft>
                <a:spcPts val="10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目标：构建稳定、可扩展、可解释的商品期货量化体系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4709160"/>
            <a:ext cx="2057400" cy="59436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4800600"/>
            <a:ext cx="17282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A"/>
                </a:solidFill>
                <a:latin typeface="Microsoft YaHei"/>
              </a:defRPr>
            </a:pPr>
            <a:r>
              <a:t>策略主线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4709160"/>
            <a:ext cx="2057400" cy="59436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4800600"/>
            <a:ext cx="17282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A"/>
                </a:solidFill>
                <a:latin typeface="Microsoft YaHei"/>
              </a:defRPr>
            </a:pPr>
            <a:r>
              <a:t>组合增益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4709160"/>
            <a:ext cx="2057400" cy="59436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4800600"/>
            <a:ext cx="17282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A"/>
                </a:solidFill>
                <a:latin typeface="Microsoft YaHei"/>
              </a:defRPr>
            </a:pPr>
            <a:r>
              <a:t>风险约束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373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t>CTA策略投研流程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t>将研究链路拆分为五个环节，便于复盘与归因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1783080" cy="1097280"/>
          </a:xfrm>
          <a:prstGeom prst="round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2880360"/>
            <a:ext cx="457200" cy="0"/>
          </a:xfrm>
          <a:prstGeom prst="line">
            <a:avLst/>
          </a:prstGeom>
          <a:ln w="25400">
            <a:solidFill>
              <a:srgbClr val="ADB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4640" y="2331720"/>
            <a:ext cx="1783080" cy="1097280"/>
          </a:xfrm>
          <a:prstGeom prst="round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因子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17720" y="2880360"/>
            <a:ext cx="457200" cy="0"/>
          </a:xfrm>
          <a:prstGeom prst="line">
            <a:avLst/>
          </a:prstGeom>
          <a:ln w="25400">
            <a:solidFill>
              <a:srgbClr val="ADB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4920" y="2331720"/>
            <a:ext cx="1783080" cy="1097280"/>
          </a:xfrm>
          <a:prstGeom prst="round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投资组合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2880360"/>
            <a:ext cx="457200" cy="0"/>
          </a:xfrm>
          <a:prstGeom prst="line">
            <a:avLst/>
          </a:prstGeom>
          <a:ln w="25400">
            <a:solidFill>
              <a:srgbClr val="ADB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0" y="2331720"/>
            <a:ext cx="1783080" cy="1097280"/>
          </a:xfrm>
          <a:prstGeom prst="roundRect">
            <a:avLst/>
          </a:prstGeom>
          <a:solidFill>
            <a:srgbClr val="B64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风控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2880360"/>
            <a:ext cx="457200" cy="0"/>
          </a:xfrm>
          <a:prstGeom prst="line">
            <a:avLst/>
          </a:prstGeom>
          <a:ln w="25400">
            <a:solidFill>
              <a:srgbClr val="ADB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55480" y="2331720"/>
            <a:ext cx="1783080" cy="1097280"/>
          </a:xfrm>
          <a:prstGeom prst="round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执行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69080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069080"/>
            <a:ext cx="10972800" cy="146304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325112"/>
            <a:ext cx="10570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B4A"/>
                </a:solidFill>
                <a:latin typeface="Microsoft YaHei"/>
              </a:defRPr>
            </a:pPr>
            <a:r>
              <a:t>流程要点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837176"/>
            <a:ext cx="10607040" cy="4846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23944"/>
                </a:solidFill>
                <a:latin typeface="Microsoft YaHei"/>
              </a:defRPr>
            </a:pPr>
            <a:r>
              <a:t>收益、风控与执行需要协同，核心壁垒在于全链路联动。</a:t>
            </a:r>
          </a:p>
          <a:p>
            <a:pPr>
              <a:spcAft>
                <a:spcPts val="500"/>
              </a:spcAft>
              <a:defRPr sz="1200">
                <a:solidFill>
                  <a:srgbClr val="323944"/>
                </a:solidFill>
                <a:latin typeface="Microsoft YaHei"/>
              </a:defRPr>
            </a:pPr>
            <a:r>
              <a:t>任何单环节失真，最终都会表现为回撤放大、容量受限或执行偏差。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373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t>数据体系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t>数据覆盖决定信号来源，数据质量决定策略上限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703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703320" cy="146304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01952"/>
            <a:ext cx="3300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F5F98"/>
                </a:solidFill>
                <a:latin typeface="Microsoft YaHei"/>
              </a:defRPr>
            </a:pPr>
            <a:r>
              <a:t>量价数据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14016"/>
            <a:ext cx="3337560" cy="33649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内容：K线、行情快照、Tick数据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来源：交易所、Wind、Tushare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用途：构建趋势、反转、波动率、量仓共振与微观结构类因子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更新频率：覆盖毫秒级到日频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45920"/>
            <a:ext cx="3703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645920"/>
            <a:ext cx="3703320" cy="146304"/>
          </a:xfrm>
          <a:prstGeom prst="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901952"/>
            <a:ext cx="3300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7766D"/>
                </a:solidFill>
                <a:latin typeface="Microsoft YaHei"/>
              </a:defRPr>
            </a:pPr>
            <a:r>
              <a:t>基本面数据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414016"/>
            <a:ext cx="3337560" cy="33649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内容：库存、开工率、现货价格、CPI、利率、美元指数、信用利差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来源：卓创资讯、钢联、上海有色网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用途：支持品种强弱排序、行业判断以及宏观环境识别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更新频率：日/周/月/季/年都覆盖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45920"/>
            <a:ext cx="3703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645920"/>
            <a:ext cx="3703320" cy="146304"/>
          </a:xfrm>
          <a:prstGeom prst="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901952"/>
            <a:ext cx="3300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AC7626"/>
                </a:solidFill>
                <a:latin typeface="Microsoft YaHei"/>
              </a:defRPr>
            </a:pPr>
            <a:r>
              <a:t>另类数据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414016"/>
            <a:ext cx="3337560" cy="33649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内容：卫星图像、分析师预测、各类第三方事件数据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来源：第三方数据供应商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用途：补充传统数据难覆盖的数据，同时覆盖了各类事件扰动与市场预期变化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更新频率：日/周/月/季/年都覆盖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373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因子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t>因子构建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t>将复杂市场拆解为可量化表达的信号模块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611880" cy="448056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3611880" cy="146304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47672"/>
            <a:ext cx="32095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5F98"/>
                </a:solidFill>
                <a:latin typeface="Microsoft YaHei"/>
              </a:defRPr>
            </a:pPr>
            <a:r>
              <a:t>量价因子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59736"/>
            <a:ext cx="3246120" cy="35478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分类：趋势类、反转类、微结构、高频类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示例：双均线、收益率偏度、能量潮、订单簿不平衡、微价格偏差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优点：更新频率高、响应速度快、可直接映射交易行为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适配性：适合趋势主导、波动放大、情绪切换较快的阶段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特点：对行情拐点敏感，但对噪声和交易成本也更敏感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611880" cy="4480560"/>
          </a:xfrm>
          <a:prstGeom prst="roundRect">
            <a:avLst/>
          </a:prstGeom>
          <a:solidFill>
            <a:srgbClr val="E8F3F0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611880" cy="146304"/>
          </a:xfrm>
          <a:prstGeom prst="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947672"/>
            <a:ext cx="32095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766D"/>
                </a:solidFill>
                <a:latin typeface="Microsoft YaHei"/>
              </a:defRPr>
            </a:pPr>
            <a:r>
              <a:t>基本面因子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459736"/>
            <a:ext cx="3246120" cy="35478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分类：产业基本面因子、宏观因子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示例：库存变化、基差结构、CPI、PPI、利率、美元指数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优点：经济含义清晰、跨周期解释力强、稳定性较好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适配性：适合中低频方向判断和跨品种横向配置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特点：更新频率相对较低，通常需要与量价信号联合使用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91640"/>
            <a:ext cx="3611880" cy="4480560"/>
          </a:xfrm>
          <a:prstGeom prst="roundRect">
            <a:avLst/>
          </a:prstGeom>
          <a:solidFill>
            <a:srgbClr val="F8F0E3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91640"/>
            <a:ext cx="3611880" cy="146304"/>
          </a:xfrm>
          <a:prstGeom prst="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947672"/>
            <a:ext cx="32095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7626"/>
                </a:solidFill>
                <a:latin typeface="Microsoft YaHei"/>
              </a:defRPr>
            </a:pPr>
            <a:r>
              <a:t>另类因子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59736"/>
            <a:ext cx="3246120" cy="35478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分类：事件驱动类、替代数据类、预期偏差类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示例：天气扰动、卫星产能监测、产业链事件映射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优点：信息增量高，能捕捉传统因子难覆盖的变化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适配性：适合突发事件驱动或常规信号拥挤阶段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特点：噪声较高，需先做清洗和验证，再进入生产流程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373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B64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t>评估体系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t>不仅评估单因子收益，还评估其对现有组合的边际增益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834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2834640" cy="146304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56232"/>
            <a:ext cx="24323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5F98"/>
                </a:solidFill>
                <a:latin typeface="Microsoft YaHei"/>
              </a:defRPr>
            </a:pPr>
            <a:r>
              <a:t>基础指标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68296"/>
            <a:ext cx="2468880" cy="35478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夏普比率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最大回撤深度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最大回撤时间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持仓周期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容量约束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滑点敏感度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611880" y="1645920"/>
          <a:ext cx="416052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909560" y="1645920"/>
          <a:ext cx="416052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611880" y="3794760"/>
          <a:ext cx="4160520" cy="2011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909560" y="3794760"/>
          <a:ext cx="4160520" cy="2011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927080" y="64373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B64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t>增量评估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t>通过新因子累计与残差累计判断新增信号对原组合的边际贡献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331720" y="1463040"/>
          <a:ext cx="754380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4160520"/>
            <a:ext cx="7543800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27080" y="64373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t>投资组合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t>组合不是简单叠加高Sharpe因子，而是在相关性约束下实现稳定输出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7947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794760" cy="146304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01952"/>
            <a:ext cx="33924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5F98"/>
                </a:solidFill>
                <a:latin typeface="Microsoft YaHei"/>
              </a:defRPr>
            </a:pPr>
            <a:r>
              <a:t>核心原则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14016"/>
            <a:ext cx="3429000" cy="35478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波动率标准化后再合成权重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新因子与现有组合须保持低相关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评估标准是整体组合增益，而非单腿收益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单策略权重设上限，防止局部主导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645920"/>
            <a:ext cx="3429000" cy="146304"/>
          </a:xfrm>
          <a:prstGeom prst="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90195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766D"/>
                </a:solidFill>
                <a:latin typeface="Microsoft YaHei"/>
              </a:defRPr>
            </a:pPr>
            <a:r>
              <a:t>组合结构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414016"/>
            <a:ext cx="3063240" cy="35478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趋势类 — 捕捉主线行情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反转类 — 补足震荡阶段收益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另类类 — 提供增量信息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按Sector与品种分层配置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按月复核风格暴露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3429000" cy="146304"/>
          </a:xfrm>
          <a:prstGeom prst="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90195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7626"/>
                </a:solidFill>
                <a:latin typeface="Microsoft YaHei"/>
              </a:defRPr>
            </a:pPr>
            <a:r>
              <a:t>落地判断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414016"/>
            <a:ext cx="3063240" cy="35478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优先参数高原，避免参数尖峰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关注净值平滑度与回撤修复速度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相关性、容量与换手联合约束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同等收益下优选低交易成本方案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373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B64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风控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t>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t>风控目标不是压制收益，而是确保组合在极端环境下仍可管理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566160" cy="146304"/>
          </a:xfrm>
          <a:prstGeom prst="rect">
            <a:avLst/>
          </a:prstGeom>
          <a:solidFill>
            <a:srgbClr val="B64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01952"/>
            <a:ext cx="31638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64F42"/>
                </a:solidFill>
                <a:latin typeface="Microsoft YaHei"/>
              </a:defRPr>
            </a:pPr>
            <a:r>
              <a:t>硬约束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14016"/>
            <a:ext cx="3200400" cy="9875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VaR约束。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产品投资限制。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交易所投资限制。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单品种与单行业集中度限制。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49039"/>
            <a:ext cx="3566160" cy="146304"/>
          </a:xfrm>
          <a:prstGeom prst="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005072"/>
            <a:ext cx="31638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7626"/>
                </a:solidFill>
                <a:latin typeface="Microsoft YaHei"/>
              </a:defRPr>
            </a:pPr>
            <a:r>
              <a:t>异常情况处理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517136"/>
            <a:ext cx="3200400" cy="9875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盘中剧烈波动时，需考虑无法按常规方式平仓的场景。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预设降频、减仓、替代合约与人工接管机制。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异常行情结束后，执行复盘并更新熔断参数。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64592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645920"/>
            <a:ext cx="6766560" cy="146304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901952"/>
            <a:ext cx="6364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B4A"/>
                </a:solidFill>
                <a:latin typeface="Microsoft YaHei"/>
              </a:defRPr>
            </a:pPr>
            <a:r>
              <a:t>双层仓位系数管理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414016"/>
            <a:ext cx="6400800" cy="31821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第一层：节假日前后，按流动性与跳空风险调整仓位。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第二层：触发预警线、止损线后，自动调整单策略仓位。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第三层：当某类策略持续回撤时，逐步下调该策略族权重。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第四层（可选）：组合波动超阈值时，启用临时风险预算压降。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373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t>交易执行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t>执行不是末端细节，而是影响策略收益兑现的关键环节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474720" cy="146304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93391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5F98"/>
                </a:solidFill>
                <a:latin typeface="Microsoft YaHei"/>
              </a:defRPr>
            </a:pPr>
            <a:r>
              <a:t>日度少量调仓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505456"/>
            <a:ext cx="3108960" cy="34564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执行方式：VWAP。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适用于日常小幅调仓，目标是降低冲击成本。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优先在流动性较高时段分批完成。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3474720" cy="146304"/>
          </a:xfrm>
          <a:prstGeom prst="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1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766D"/>
                </a:solidFill>
                <a:latin typeface="Microsoft YaHei"/>
              </a:defRPr>
            </a:pPr>
            <a:r>
              <a:t>建仓、清仓、换月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505456"/>
            <a:ext cx="3108960" cy="34564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执行方式：TWAP。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适用于主力换月、新建仓位或集中退出。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按交易窗口拆分委托，降低一次性冲击。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737360"/>
            <a:ext cx="3474720" cy="146304"/>
          </a:xfrm>
          <a:prstGeom prst="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993391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7626"/>
                </a:solidFill>
                <a:latin typeface="Microsoft YaHei"/>
              </a:defRPr>
            </a:pPr>
            <a:r>
              <a:t>混合执行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505456"/>
            <a:ext cx="3108960" cy="34564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TWAP与VWAP结合。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保证每分钟至少一手下单，兼顾成交效率与市场存在感。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实时监控成交偏差，动态调整执行节奏。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373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t>以统一框架打通数据、研究与交易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10972800" cy="146304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10570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B4A"/>
                </a:solidFill>
                <a:latin typeface="Microsoft YaHei"/>
              </a:defRPr>
            </a:pPr>
            <a:r>
              <a:t>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9736"/>
            <a:ext cx="10607040" cy="35478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数据是基础，因子是表达，组合是放大器；风控与执行是收益兑现的最后两道关口。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后续扩展应优先考虑低相关增量，避免堆叠同质化信号。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策略研发需要持续回答三个问题：是否稳定、是否增益、是否可执行。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建议建立统一监控看板，贯通研究、交易、风控指标。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t>通过流程化、标准化、可回溯的研究体系，提升策略长期稳定性与可复制性。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373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