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.xlsx"/></Relationships>
</file>

<file path=ppt/charts/_rels/chart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6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t>GMV</a:t>
            </a:r>
          </a:p>
        </c:rich>
      </c:tx>
      <c:layout/>
      <c:overlay val="0"/>
    </c:title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GMV</c:v>
                </c:pt>
              </c:strCache>
            </c:strRef>
          </c:tx>
          <c:spPr>
            <a:ln w="31750">
              <a:solidFill>
                <a:srgbClr val="2F5F98"/>
              </a:solidFill>
            </a:ln>
          </c:spPr>
          <c:marker>
            <c:symbol val="none"/>
          </c:marker>
          <c:cat>
            <c:strRef>
              <c:f>Sheet1!$A$2:$A$31</c:f>
              <c:strCache>
                <c:ptCount val="30"/>
                <c:pt idx="0">
                  <c:v>2024-01</c:v>
                </c:pt>
                <c:pt idx="1">
                  <c:v>2024-02</c:v>
                </c:pt>
                <c:pt idx="2">
                  <c:v>2024-03</c:v>
                </c:pt>
                <c:pt idx="3">
                  <c:v>2024-04</c:v>
                </c:pt>
                <c:pt idx="4">
                  <c:v>2024-05</c:v>
                </c:pt>
                <c:pt idx="5">
                  <c:v>2024-06</c:v>
                </c:pt>
                <c:pt idx="6">
                  <c:v>2024-07</c:v>
                </c:pt>
                <c:pt idx="7">
                  <c:v>2024-08</c:v>
                </c:pt>
                <c:pt idx="8">
                  <c:v>2024-09</c:v>
                </c:pt>
                <c:pt idx="9">
                  <c:v>2024-10</c:v>
                </c:pt>
                <c:pt idx="10">
                  <c:v>2024-11</c:v>
                </c:pt>
                <c:pt idx="11">
                  <c:v>2024-12</c:v>
                </c:pt>
                <c:pt idx="12">
                  <c:v>2025-01</c:v>
                </c:pt>
                <c:pt idx="13">
                  <c:v>2025-02</c:v>
                </c:pt>
                <c:pt idx="14">
                  <c:v>2025-03</c:v>
                </c:pt>
                <c:pt idx="15">
                  <c:v>2025-04</c:v>
                </c:pt>
                <c:pt idx="16">
                  <c:v>2025-05</c:v>
                </c:pt>
                <c:pt idx="17">
                  <c:v>2025-06</c:v>
                </c:pt>
                <c:pt idx="18">
                  <c:v>2025-07</c:v>
                </c:pt>
                <c:pt idx="19">
                  <c:v>2025-08</c:v>
                </c:pt>
                <c:pt idx="20">
                  <c:v>2025-09</c:v>
                </c:pt>
                <c:pt idx="21">
                  <c:v>2025-10</c:v>
                </c:pt>
                <c:pt idx="22">
                  <c:v>2025-11</c:v>
                </c:pt>
                <c:pt idx="23">
                  <c:v>2025-12</c:v>
                </c:pt>
                <c:pt idx="24">
                  <c:v>2026-01</c:v>
                </c:pt>
                <c:pt idx="25">
                  <c:v>2026-02</c:v>
                </c:pt>
                <c:pt idx="26">
                  <c:v>2026-03</c:v>
                </c:pt>
                <c:pt idx="27">
                  <c:v>2026-04</c:v>
                </c:pt>
                <c:pt idx="28">
                  <c:v>2026-05</c:v>
                </c:pt>
                <c:pt idx="29">
                  <c:v>2026-06</c:v>
                </c:pt>
              </c:strCache>
            </c:strRef>
          </c:cat>
          <c:val>
            <c:numRef>
              <c:f>Sheet1!$B$2:$B$31</c:f>
              <c:numCache>
                <c:formatCode>General</c:formatCode>
                <c:ptCount val="30"/>
                <c:pt idx="0">
                  <c:v>2.8</c:v>
                </c:pt>
                <c:pt idx="1">
                  <c:v>3.2</c:v>
                </c:pt>
                <c:pt idx="2">
                  <c:v>2.5</c:v>
                </c:pt>
                <c:pt idx="3">
                  <c:v>3.6</c:v>
                </c:pt>
                <c:pt idx="4">
                  <c:v>2.3</c:v>
                </c:pt>
                <c:pt idx="5">
                  <c:v>3.8</c:v>
                </c:pt>
                <c:pt idx="6">
                  <c:v>3.1</c:v>
                </c:pt>
                <c:pt idx="7">
                  <c:v>2.6</c:v>
                </c:pt>
                <c:pt idx="8">
                  <c:v>3.4</c:v>
                </c:pt>
                <c:pt idx="9">
                  <c:v>2.9</c:v>
                </c:pt>
                <c:pt idx="10">
                  <c:v>3.7</c:v>
                </c:pt>
                <c:pt idx="11">
                  <c:v>2.4</c:v>
                </c:pt>
                <c:pt idx="12">
                  <c:v>3.3</c:v>
                </c:pt>
                <c:pt idx="13">
                  <c:v>2.7</c:v>
                </c:pt>
                <c:pt idx="14">
                  <c:v>3.9</c:v>
                </c:pt>
                <c:pt idx="15">
                  <c:v>2.2</c:v>
                </c:pt>
                <c:pt idx="16">
                  <c:v>3.5</c:v>
                </c:pt>
                <c:pt idx="17">
                  <c:v>2.8</c:v>
                </c:pt>
                <c:pt idx="18">
                  <c:v>3.2</c:v>
                </c:pt>
                <c:pt idx="19">
                  <c:v>2.5</c:v>
                </c:pt>
                <c:pt idx="20">
                  <c:v>3.7</c:v>
                </c:pt>
                <c:pt idx="21">
                  <c:v>3.0</c:v>
                </c:pt>
                <c:pt idx="22">
                  <c:v>2.4</c:v>
                </c:pt>
                <c:pt idx="23">
                  <c:v>3.6</c:v>
                </c:pt>
                <c:pt idx="24">
                  <c:v>2.9</c:v>
                </c:pt>
                <c:pt idx="25">
                  <c:v>3.3</c:v>
                </c:pt>
                <c:pt idx="26">
                  <c:v>2.6</c:v>
                </c:pt>
                <c:pt idx="27">
                  <c:v>3.8</c:v>
                </c:pt>
                <c:pt idx="28">
                  <c:v>2.3</c:v>
                </c:pt>
                <c:pt idx="29">
                  <c:v>3.1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7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ax val="5.0"/>
          <c:min val="0.0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2118791784"/>
        <c:crosses val="autoZero"/>
      </c:valAx>
    </c:plotArea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t>Delta</a:t>
            </a:r>
          </a:p>
        </c:rich>
      </c:tx>
      <c:layout/>
      <c:overlay val="0"/>
    </c:title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Delta</c:v>
                </c:pt>
              </c:strCache>
            </c:strRef>
          </c:tx>
          <c:spPr>
            <a:ln w="31750">
              <a:solidFill>
                <a:srgbClr val="2F5F98"/>
              </a:solidFill>
            </a:ln>
          </c:spPr>
          <c:marker>
            <c:symbol val="none"/>
          </c:marker>
          <c:cat>
            <c:strRef>
              <c:f>Sheet1!$A$2:$A$31</c:f>
              <c:strCache>
                <c:ptCount val="30"/>
                <c:pt idx="0">
                  <c:v>2024-01</c:v>
                </c:pt>
                <c:pt idx="1">
                  <c:v>2024-02</c:v>
                </c:pt>
                <c:pt idx="2">
                  <c:v>2024-03</c:v>
                </c:pt>
                <c:pt idx="3">
                  <c:v>2024-04</c:v>
                </c:pt>
                <c:pt idx="4">
                  <c:v>2024-05</c:v>
                </c:pt>
                <c:pt idx="5">
                  <c:v>2024-06</c:v>
                </c:pt>
                <c:pt idx="6">
                  <c:v>2024-07</c:v>
                </c:pt>
                <c:pt idx="7">
                  <c:v>2024-08</c:v>
                </c:pt>
                <c:pt idx="8">
                  <c:v>2024-09</c:v>
                </c:pt>
                <c:pt idx="9">
                  <c:v>2024-10</c:v>
                </c:pt>
                <c:pt idx="10">
                  <c:v>2024-11</c:v>
                </c:pt>
                <c:pt idx="11">
                  <c:v>2024-12</c:v>
                </c:pt>
                <c:pt idx="12">
                  <c:v>2025-01</c:v>
                </c:pt>
                <c:pt idx="13">
                  <c:v>2025-02</c:v>
                </c:pt>
                <c:pt idx="14">
                  <c:v>2025-03</c:v>
                </c:pt>
                <c:pt idx="15">
                  <c:v>2025-04</c:v>
                </c:pt>
                <c:pt idx="16">
                  <c:v>2025-05</c:v>
                </c:pt>
                <c:pt idx="17">
                  <c:v>2025-06</c:v>
                </c:pt>
                <c:pt idx="18">
                  <c:v>2025-07</c:v>
                </c:pt>
                <c:pt idx="19">
                  <c:v>2025-08</c:v>
                </c:pt>
                <c:pt idx="20">
                  <c:v>2025-09</c:v>
                </c:pt>
                <c:pt idx="21">
                  <c:v>2025-10</c:v>
                </c:pt>
                <c:pt idx="22">
                  <c:v>2025-11</c:v>
                </c:pt>
                <c:pt idx="23">
                  <c:v>2025-12</c:v>
                </c:pt>
                <c:pt idx="24">
                  <c:v>2026-01</c:v>
                </c:pt>
                <c:pt idx="25">
                  <c:v>2026-02</c:v>
                </c:pt>
                <c:pt idx="26">
                  <c:v>2026-03</c:v>
                </c:pt>
                <c:pt idx="27">
                  <c:v>2026-04</c:v>
                </c:pt>
                <c:pt idx="28">
                  <c:v>2026-05</c:v>
                </c:pt>
                <c:pt idx="29">
                  <c:v>2026-06</c:v>
                </c:pt>
              </c:strCache>
            </c:strRef>
          </c:cat>
          <c:val>
            <c:numRef>
              <c:f>Sheet1!$B$2:$B$31</c:f>
              <c:numCache>
                <c:formatCode>General</c:formatCode>
                <c:ptCount val="30"/>
                <c:pt idx="0">
                  <c:v>-0.5</c:v>
                </c:pt>
                <c:pt idx="1">
                  <c:v>-0.3</c:v>
                </c:pt>
                <c:pt idx="2">
                  <c:v>0.4</c:v>
                </c:pt>
                <c:pt idx="3">
                  <c:v>0.1</c:v>
                </c:pt>
                <c:pt idx="4">
                  <c:v>0.8</c:v>
                </c:pt>
                <c:pt idx="5">
                  <c:v>1.2</c:v>
                </c:pt>
                <c:pt idx="6">
                  <c:v>1.5</c:v>
                </c:pt>
                <c:pt idx="7">
                  <c:v>0.9</c:v>
                </c:pt>
                <c:pt idx="8">
                  <c:v>0.3</c:v>
                </c:pt>
                <c:pt idx="9">
                  <c:v>-0.4</c:v>
                </c:pt>
                <c:pt idx="10">
                  <c:v>-0.9</c:v>
                </c:pt>
                <c:pt idx="11">
                  <c:v>0.2</c:v>
                </c:pt>
                <c:pt idx="12">
                  <c:v>-0.7</c:v>
                </c:pt>
                <c:pt idx="13">
                  <c:v>-0.2</c:v>
                </c:pt>
                <c:pt idx="14">
                  <c:v>0.6</c:v>
                </c:pt>
                <c:pt idx="15">
                  <c:v>0.3</c:v>
                </c:pt>
                <c:pt idx="16">
                  <c:v>1.0</c:v>
                </c:pt>
                <c:pt idx="17">
                  <c:v>1.8</c:v>
                </c:pt>
                <c:pt idx="18">
                  <c:v>2.1</c:v>
                </c:pt>
                <c:pt idx="19">
                  <c:v>1.3</c:v>
                </c:pt>
                <c:pt idx="20">
                  <c:v>0.6</c:v>
                </c:pt>
                <c:pt idx="21">
                  <c:v>-0.1</c:v>
                </c:pt>
                <c:pt idx="22">
                  <c:v>-0.8</c:v>
                </c:pt>
                <c:pt idx="23">
                  <c:v>0.3</c:v>
                </c:pt>
                <c:pt idx="24">
                  <c:v>-1.4</c:v>
                </c:pt>
                <c:pt idx="25">
                  <c:v>-0.8</c:v>
                </c:pt>
                <c:pt idx="26">
                  <c:v>0.2</c:v>
                </c:pt>
                <c:pt idx="27">
                  <c:v>-0.3</c:v>
                </c:pt>
                <c:pt idx="28">
                  <c:v>1.1</c:v>
                </c:pt>
                <c:pt idx="29">
                  <c:v>2.0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7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ax val="3.0"/>
          <c:min val="-2.0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2118791784"/>
        <c:crosses val="autoZero"/>
      </c:valAx>
    </c:plotArea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t>PnL 工作日分布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PnL</c:v>
                </c:pt>
              </c:strCache>
            </c:strRef>
          </c:tx>
          <c:spPr>
            <a:solidFill>
              <a:srgbClr val="2F5F98"/>
            </a:solidFill>
          </c:spPr>
          <c:cat>
            <c:strRef>
              <c:f>Sheet1!$A$2:$A$6</c:f>
              <c:strCache>
                <c:ptCount val="5"/>
                <c:pt idx="0">
                  <c:v>周一</c:v>
                </c:pt>
                <c:pt idx="1">
                  <c:v>周二</c:v>
                </c:pt>
                <c:pt idx="2">
                  <c:v>周三</c:v>
                </c:pt>
                <c:pt idx="3">
                  <c:v>周四</c:v>
                </c:pt>
                <c:pt idx="4">
                  <c:v>周五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0.12</c:v>
                </c:pt>
                <c:pt idx="1">
                  <c:v>0.08</c:v>
                </c:pt>
                <c:pt idx="2">
                  <c:v>-0.03</c:v>
                </c:pt>
                <c:pt idx="3">
                  <c:v>0.15</c:v>
                </c:pt>
                <c:pt idx="4">
                  <c:v>0.09</c:v>
                </c:pt>
              </c:numCache>
            </c:numRef>
          </c:val>
          <c:invertIfNegative val="0"/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low"/>
        <c:txPr>
          <a:bodyPr/>
          <a:lstStyle/>
          <a:p>
            <a:pPr>
              <a:defRPr sz="10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0.25"/>
          <c:min val="-0.15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t>PnL 月份分布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PnL</c:v>
                </c:pt>
              </c:strCache>
            </c:strRef>
          </c:tx>
          <c:spPr>
            <a:solidFill>
              <a:srgbClr val="2F5F98"/>
            </a:solidFill>
          </c:spPr>
          <c:cat>
            <c:strRef>
              <c:f>Sheet1!$A$2:$A$13</c:f>
              <c:strCache>
                <c:ptCount val="12"/>
                <c:pt idx="0">
                  <c:v>1月</c:v>
                </c:pt>
                <c:pt idx="1">
                  <c:v>2月</c:v>
                </c:pt>
                <c:pt idx="2">
                  <c:v>3月</c:v>
                </c:pt>
                <c:pt idx="3">
                  <c:v>4月</c:v>
                </c:pt>
                <c:pt idx="4">
                  <c:v>5月</c:v>
                </c:pt>
                <c:pt idx="5">
                  <c:v>6月</c:v>
                </c:pt>
                <c:pt idx="6">
                  <c:v>7月</c:v>
                </c:pt>
                <c:pt idx="7">
                  <c:v>8月</c:v>
                </c:pt>
                <c:pt idx="8">
                  <c:v>9月</c:v>
                </c:pt>
                <c:pt idx="9">
                  <c:v>10月</c:v>
                </c:pt>
                <c:pt idx="10">
                  <c:v>11月</c:v>
                </c:pt>
                <c:pt idx="11">
                  <c:v>12月</c:v>
                </c:pt>
              </c:strCache>
            </c: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0.18</c:v>
                </c:pt>
                <c:pt idx="1">
                  <c:v>-0.05</c:v>
                </c:pt>
                <c:pt idx="2">
                  <c:v>0.22</c:v>
                </c:pt>
                <c:pt idx="3">
                  <c:v>0.07</c:v>
                </c:pt>
                <c:pt idx="4">
                  <c:v>-0.11</c:v>
                </c:pt>
                <c:pt idx="5">
                  <c:v>0.14</c:v>
                </c:pt>
                <c:pt idx="6">
                  <c:v>0.09</c:v>
                </c:pt>
                <c:pt idx="7">
                  <c:v>0.03</c:v>
                </c:pt>
                <c:pt idx="8">
                  <c:v>0.16</c:v>
                </c:pt>
                <c:pt idx="9">
                  <c:v>-0.08</c:v>
                </c:pt>
                <c:pt idx="10">
                  <c:v>0.2</c:v>
                </c:pt>
                <c:pt idx="11">
                  <c:v>0.11</c:v>
                </c:pt>
              </c:numCache>
            </c:numRef>
          </c:val>
          <c:invertIfNegative val="0"/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low"/>
        <c:txPr>
          <a:bodyPr/>
          <a:lstStyle/>
          <a:p>
            <a:pPr>
              <a:defRPr sz="8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0.3"/>
          <c:min val="-0.15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t>累计收益率 / 累计残差</a:t>
            </a:r>
          </a:p>
        </c:rich>
      </c:tx>
      <c:layout/>
      <c:overlay val="0"/>
    </c:title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累计收益率</c:v>
                </c:pt>
              </c:strCache>
            </c:strRef>
          </c:tx>
          <c:spPr>
            <a:ln w="38100">
              <a:solidFill>
                <a:srgbClr val="2F5F98"/>
              </a:solidFill>
            </a:ln>
          </c:spPr>
          <c:marker>
            <c:symbol val="none"/>
          </c:marker>
          <c:cat>
            <c:strRef>
              <c:f>Sheet1!$A$2:$A$21</c:f>
              <c:strCache>
                <c:ptCount val="20"/>
                <c:pt idx="0">
                  <c:v>2021Q1</c:v>
                </c:pt>
                <c:pt idx="1">
                  <c:v>2021Q2</c:v>
                </c:pt>
                <c:pt idx="2">
                  <c:v>2021Q3</c:v>
                </c:pt>
                <c:pt idx="3">
                  <c:v>2021Q4</c:v>
                </c:pt>
                <c:pt idx="4">
                  <c:v>2022Q1</c:v>
                </c:pt>
                <c:pt idx="5">
                  <c:v>2022Q2</c:v>
                </c:pt>
                <c:pt idx="6">
                  <c:v>2022Q3</c:v>
                </c:pt>
                <c:pt idx="7">
                  <c:v>2022Q4</c:v>
                </c:pt>
                <c:pt idx="8">
                  <c:v>2023Q1</c:v>
                </c:pt>
                <c:pt idx="9">
                  <c:v>2023Q2</c:v>
                </c:pt>
                <c:pt idx="10">
                  <c:v>2023Q3</c:v>
                </c:pt>
                <c:pt idx="11">
                  <c:v>2023Q4</c:v>
                </c:pt>
                <c:pt idx="12">
                  <c:v>2024Q1</c:v>
                </c:pt>
                <c:pt idx="13">
                  <c:v>2024Q2</c:v>
                </c:pt>
                <c:pt idx="14">
                  <c:v>2024Q3</c:v>
                </c:pt>
                <c:pt idx="15">
                  <c:v>2024Q4</c:v>
                </c:pt>
                <c:pt idx="16">
                  <c:v>2025Q1</c:v>
                </c:pt>
                <c:pt idx="17">
                  <c:v>2025Q2</c:v>
                </c:pt>
                <c:pt idx="18">
                  <c:v>2025Q3</c:v>
                </c:pt>
                <c:pt idx="19">
                  <c:v>2025Q4</c:v>
                </c:pt>
              </c:strCache>
            </c:strRef>
          </c:cat>
          <c:val>
            <c:numRef>
              <c:f>Sheet1!$B$2:$B$21</c:f>
              <c:numCache>
                <c:formatCode>General</c:formatCode>
                <c:ptCount val="20"/>
                <c:pt idx="0">
                  <c:v>0</c:v>
                </c:pt>
                <c:pt idx="1">
                  <c:v>13</c:v>
                </c:pt>
                <c:pt idx="2">
                  <c:v>28</c:v>
                </c:pt>
                <c:pt idx="3">
                  <c:v>20</c:v>
                </c:pt>
                <c:pt idx="4">
                  <c:v>40</c:v>
                </c:pt>
                <c:pt idx="5">
                  <c:v>58</c:v>
                </c:pt>
                <c:pt idx="6">
                  <c:v>78</c:v>
                </c:pt>
                <c:pt idx="7">
                  <c:v>68</c:v>
                </c:pt>
                <c:pt idx="8">
                  <c:v>90</c:v>
                </c:pt>
                <c:pt idx="9">
                  <c:v>110</c:v>
                </c:pt>
                <c:pt idx="10">
                  <c:v>133</c:v>
                </c:pt>
                <c:pt idx="11">
                  <c:v>123</c:v>
                </c:pt>
                <c:pt idx="12">
                  <c:v>153</c:v>
                </c:pt>
                <c:pt idx="13">
                  <c:v>175</c:v>
                </c:pt>
                <c:pt idx="14">
                  <c:v>198</c:v>
                </c:pt>
                <c:pt idx="15">
                  <c:v>183</c:v>
                </c:pt>
                <c:pt idx="16">
                  <c:v>215</c:v>
                </c:pt>
                <c:pt idx="17">
                  <c:v>238</c:v>
                </c:pt>
                <c:pt idx="18">
                  <c:v>260</c:v>
                </c:pt>
                <c:pt idx="19">
                  <c:v>280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累计残差</c:v>
                </c:pt>
              </c:strCache>
            </c:strRef>
          </c:tx>
          <c:spPr>
            <a:ln w="38100">
              <a:solidFill>
                <a:srgbClr val="B64F42"/>
              </a:solidFill>
            </a:ln>
          </c:spPr>
          <c:marker>
            <c:symbol val="none"/>
          </c:marker>
          <c:cat>
            <c:strRef>
              <c:f>Sheet1!$A$2:$A$21</c:f>
              <c:strCache>
                <c:ptCount val="20"/>
                <c:pt idx="0">
                  <c:v>2021Q1</c:v>
                </c:pt>
                <c:pt idx="1">
                  <c:v>2021Q2</c:v>
                </c:pt>
                <c:pt idx="2">
                  <c:v>2021Q3</c:v>
                </c:pt>
                <c:pt idx="3">
                  <c:v>2021Q4</c:v>
                </c:pt>
                <c:pt idx="4">
                  <c:v>2022Q1</c:v>
                </c:pt>
                <c:pt idx="5">
                  <c:v>2022Q2</c:v>
                </c:pt>
                <c:pt idx="6">
                  <c:v>2022Q3</c:v>
                </c:pt>
                <c:pt idx="7">
                  <c:v>2022Q4</c:v>
                </c:pt>
                <c:pt idx="8">
                  <c:v>2023Q1</c:v>
                </c:pt>
                <c:pt idx="9">
                  <c:v>2023Q2</c:v>
                </c:pt>
                <c:pt idx="10">
                  <c:v>2023Q3</c:v>
                </c:pt>
                <c:pt idx="11">
                  <c:v>2023Q4</c:v>
                </c:pt>
                <c:pt idx="12">
                  <c:v>2024Q1</c:v>
                </c:pt>
                <c:pt idx="13">
                  <c:v>2024Q2</c:v>
                </c:pt>
                <c:pt idx="14">
                  <c:v>2024Q3</c:v>
                </c:pt>
                <c:pt idx="15">
                  <c:v>2024Q4</c:v>
                </c:pt>
                <c:pt idx="16">
                  <c:v>2025Q1</c:v>
                </c:pt>
                <c:pt idx="17">
                  <c:v>2025Q2</c:v>
                </c:pt>
                <c:pt idx="18">
                  <c:v>2025Q3</c:v>
                </c:pt>
                <c:pt idx="19">
                  <c:v>2025Q4</c:v>
                </c:pt>
              </c:strCache>
            </c:strRef>
          </c:cat>
          <c:val>
            <c:numRef>
              <c:f>Sheet1!$C$2:$C$21</c:f>
              <c:numCache>
                <c:formatCode>General</c:formatCode>
                <c:ptCount val="20"/>
                <c:pt idx="0">
                  <c:v>0</c:v>
                </c:pt>
                <c:pt idx="1">
                  <c:v>3</c:v>
                </c:pt>
                <c:pt idx="2">
                  <c:v>6</c:v>
                </c:pt>
                <c:pt idx="3">
                  <c:v>5</c:v>
                </c:pt>
                <c:pt idx="4">
                  <c:v>10</c:v>
                </c:pt>
                <c:pt idx="5">
                  <c:v>14</c:v>
                </c:pt>
                <c:pt idx="6">
                  <c:v>19</c:v>
                </c:pt>
                <c:pt idx="7">
                  <c:v>17</c:v>
                </c:pt>
                <c:pt idx="8">
                  <c:v>22</c:v>
                </c:pt>
                <c:pt idx="9">
                  <c:v>27</c:v>
                </c:pt>
                <c:pt idx="10">
                  <c:v>33</c:v>
                </c:pt>
                <c:pt idx="11">
                  <c:v>30</c:v>
                </c:pt>
                <c:pt idx="12">
                  <c:v>37</c:v>
                </c:pt>
                <c:pt idx="13">
                  <c:v>43</c:v>
                </c:pt>
                <c:pt idx="14">
                  <c:v>49</c:v>
                </c:pt>
                <c:pt idx="15">
                  <c:v>46</c:v>
                </c:pt>
                <c:pt idx="16">
                  <c:v>54</c:v>
                </c:pt>
                <c:pt idx="17">
                  <c:v>61</c:v>
                </c:pt>
                <c:pt idx="18">
                  <c:v>68</c:v>
                </c:pt>
                <c:pt idx="19">
                  <c:v>80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ax val="300.0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t>PnL 日内平均走势</a:t>
            </a:r>
          </a:p>
        </c:rich>
      </c:tx>
      <c:layout/>
      <c:overlay val="0"/>
    </c:title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平均PnL</c:v>
                </c:pt>
              </c:strCache>
            </c:strRef>
          </c:tx>
          <c:spPr>
            <a:ln w="35560">
              <a:solidFill>
                <a:srgbClr val="AC7626"/>
              </a:solidFill>
            </a:ln>
          </c:spPr>
          <c:marker>
            <c:symbol val="none"/>
          </c:marker>
          <c:cat>
            <c:strRef>
              <c:f>Sheet1!$A$2:$A$17</c:f>
              <c:strCache>
                <c:ptCount val="16"/>
                <c:pt idx="0">
                  <c:v>21:00</c:v>
                </c:pt>
                <c:pt idx="1">
                  <c:v>21:30</c:v>
                </c:pt>
                <c:pt idx="2">
                  <c:v>22:00</c:v>
                </c:pt>
                <c:pt idx="3">
                  <c:v>22:30</c:v>
                </c:pt>
                <c:pt idx="4">
                  <c:v>23:00</c:v>
                </c:pt>
                <c:pt idx="5">
                  <c:v>23:30</c:v>
                </c:pt>
                <c:pt idx="6">
                  <c:v>09:00</c:v>
                </c:pt>
                <c:pt idx="7">
                  <c:v>09:30</c:v>
                </c:pt>
                <c:pt idx="8">
                  <c:v>10:00</c:v>
                </c:pt>
                <c:pt idx="9">
                  <c:v>10:30</c:v>
                </c:pt>
                <c:pt idx="10">
                  <c:v>11:00</c:v>
                </c:pt>
                <c:pt idx="11">
                  <c:v>11:30</c:v>
                </c:pt>
                <c:pt idx="12">
                  <c:v>13:30</c:v>
                </c:pt>
                <c:pt idx="13">
                  <c:v>14:00</c:v>
                </c:pt>
                <c:pt idx="14">
                  <c:v>14:30</c:v>
                </c:pt>
                <c:pt idx="15">
                  <c:v>15:00</c:v>
                </c:pt>
              </c:strCache>
            </c:strRef>
          </c:cat>
          <c:val>
            <c:numRef>
              <c:f>Sheet1!$B$2:$B$17</c:f>
              <c:numCache>
                <c:formatCode>General</c:formatCode>
                <c:ptCount val="16"/>
                <c:pt idx="0">
                  <c:v>0.45</c:v>
                </c:pt>
                <c:pt idx="1">
                  <c:v>0.47</c:v>
                </c:pt>
                <c:pt idx="2">
                  <c:v>0.46</c:v>
                </c:pt>
                <c:pt idx="3">
                  <c:v>0.49</c:v>
                </c:pt>
                <c:pt idx="4">
                  <c:v>0.48</c:v>
                </c:pt>
                <c:pt idx="5">
                  <c:v>0.52</c:v>
                </c:pt>
                <c:pt idx="6">
                  <c:v>1.1</c:v>
                </c:pt>
                <c:pt idx="7">
                  <c:v>1.13</c:v>
                </c:pt>
                <c:pt idx="8">
                  <c:v>1.12</c:v>
                </c:pt>
                <c:pt idx="9">
                  <c:v>1.16</c:v>
                </c:pt>
                <c:pt idx="10">
                  <c:v>1.15</c:v>
                </c:pt>
                <c:pt idx="11">
                  <c:v>1.19</c:v>
                </c:pt>
                <c:pt idx="12">
                  <c:v>1.21</c:v>
                </c:pt>
                <c:pt idx="13">
                  <c:v>1.24</c:v>
                </c:pt>
                <c:pt idx="14">
                  <c:v>1.23</c:v>
                </c:pt>
                <c:pt idx="15">
                  <c:v>1.27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2118791784"/>
        <c:crosses val="autoZero"/>
      </c:valAx>
    </c:plotArea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chart" Target="../charts/chart2.xml"/><Relationship Id="rId4" Type="http://schemas.openxmlformats.org/officeDocument/2006/relationships/chart" Target="../charts/chart3.xml"/><Relationship Id="rId5" Type="http://schemas.openxmlformats.org/officeDocument/2006/relationships/chart" Target="../charts/chart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5.xml"/><Relationship Id="rId3" Type="http://schemas.openxmlformats.org/officeDocument/2006/relationships/chart" Target="../charts/chart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977639" cy="6858000"/>
          </a:xfrm>
          <a:prstGeom prst="rect">
            <a:avLst/>
          </a:prstGeom>
          <a:solidFill>
            <a:srgbClr val="13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2194560" cy="109728"/>
          </a:xfrm>
          <a:prstGeom prst="rect">
            <a:avLst/>
          </a:prstGeom>
          <a:solidFill>
            <a:srgbClr val="2F5F9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1389888"/>
            <a:ext cx="2194560" cy="109728"/>
          </a:xfrm>
          <a:prstGeom prst="rect">
            <a:avLst/>
          </a:prstGeom>
          <a:solidFill>
            <a:srgbClr val="2776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1682495"/>
            <a:ext cx="2194560" cy="109728"/>
          </a:xfrm>
          <a:prstGeom prst="rect">
            <a:avLst/>
          </a:prstGeom>
          <a:solidFill>
            <a:srgbClr val="AC7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30352" y="1874519"/>
            <a:ext cx="27432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  <a:latin typeface="Microsoft YaHei"/>
              </a:defRPr>
            </a:pPr>
            <a:r>
              <a:t>CTA</a:t>
            </a:r>
            <a:br/>
            <a:r>
              <a:t>投研框架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480560" y="1371600"/>
            <a:ext cx="621792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132B4A"/>
                </a:solidFill>
                <a:latin typeface="Microsoft YaHei"/>
              </a:defRPr>
            </a:pPr>
            <a:r>
              <a:t>从数据、因子到组合与执行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26280" y="2194560"/>
            <a:ext cx="621792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1000"/>
              </a:spcAft>
              <a:defRPr sz="1500">
                <a:solidFill>
                  <a:srgbClr val="323944"/>
                </a:solidFill>
                <a:latin typeface="Microsoft YaHei"/>
              </a:defRPr>
            </a:pPr>
            <a:r>
              <a:t>CTA 投研框架总览</a:t>
            </a:r>
          </a:p>
          <a:p>
            <a:pPr>
              <a:spcAft>
                <a:spcPts val="1000"/>
              </a:spcAft>
              <a:defRPr sz="1300">
                <a:solidFill>
                  <a:srgbClr val="323944"/>
                </a:solidFill>
                <a:latin typeface="Microsoft YaHei"/>
              </a:defRPr>
            </a:pPr>
            <a:r>
              <a:t>聚焦策略研发的关键链路：数据、因子、评估、组合、风控、执行</a:t>
            </a:r>
          </a:p>
          <a:p>
            <a:pPr>
              <a:spcAft>
                <a:spcPts val="1000"/>
              </a:spcAft>
              <a:defRPr sz="1300">
                <a:solidFill>
                  <a:srgbClr val="323944"/>
                </a:solidFill>
                <a:latin typeface="Microsoft YaHei"/>
              </a:defRPr>
            </a:pPr>
            <a:r>
              <a:t>目标：构建稳定、可扩展、可解释的商品期货量化体系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26280" y="4709160"/>
            <a:ext cx="2057400" cy="594360"/>
          </a:xfrm>
          <a:prstGeom prst="roundRect">
            <a:avLst/>
          </a:prstGeom>
          <a:solidFill>
            <a:srgbClr val="E8EF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90872" y="4800600"/>
            <a:ext cx="1728216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1">
                <a:solidFill>
                  <a:srgbClr val="132B4A"/>
                </a:solidFill>
                <a:latin typeface="Microsoft YaHei"/>
              </a:defRPr>
            </a:pPr>
            <a:r>
              <a:t>策略主线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812280" y="4709160"/>
            <a:ext cx="2057400" cy="594360"/>
          </a:xfrm>
          <a:prstGeom prst="roundRect">
            <a:avLst/>
          </a:prstGeom>
          <a:solidFill>
            <a:srgbClr val="E8EF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976872" y="4800600"/>
            <a:ext cx="1728216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1">
                <a:solidFill>
                  <a:srgbClr val="132B4A"/>
                </a:solidFill>
                <a:latin typeface="Microsoft YaHei"/>
              </a:defRPr>
            </a:pPr>
            <a:r>
              <a:t>组合增益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098280" y="4709160"/>
            <a:ext cx="2057400" cy="594360"/>
          </a:xfrm>
          <a:prstGeom prst="roundRect">
            <a:avLst/>
          </a:prstGeom>
          <a:solidFill>
            <a:srgbClr val="E8EF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262872" y="4800600"/>
            <a:ext cx="1728216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1">
                <a:solidFill>
                  <a:srgbClr val="132B4A"/>
                </a:solidFill>
                <a:latin typeface="Microsoft YaHei"/>
              </a:defRPr>
            </a:pPr>
            <a:r>
              <a:t>风险约束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27080" y="6437376"/>
            <a:ext cx="73152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6F7885"/>
                </a:solidFill>
                <a:latin typeface="Microsoft YaHei"/>
              </a:defRPr>
            </a:pPr>
            <a: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3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012680" y="274320"/>
            <a:ext cx="1645920" cy="347472"/>
          </a:xfrm>
          <a:prstGeom prst="roundRect">
            <a:avLst/>
          </a:prstGeom>
          <a:solidFill>
            <a:srgbClr val="2F5F9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FFFFFF"/>
                </a:solidFill>
                <a:latin typeface="Microsoft YaHei"/>
              </a:defRPr>
            </a:pPr>
            <a:r>
              <a:t>流程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347472"/>
            <a:ext cx="786384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132B4A"/>
                </a:solidFill>
                <a:latin typeface="Microsoft YaHei"/>
              </a:defRPr>
            </a:pPr>
            <a:r>
              <a:t>CTA策略投研流程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932688"/>
            <a:ext cx="105156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50">
                <a:solidFill>
                  <a:srgbClr val="6F7885"/>
                </a:solidFill>
                <a:latin typeface="Microsoft YaHei"/>
              </a:defRPr>
            </a:pPr>
            <a:r>
              <a:t>将研究链路拆分为五个环节，便于复盘与归因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94360" y="2331720"/>
            <a:ext cx="1783080" cy="1097280"/>
          </a:xfrm>
          <a:prstGeom prst="roundRect">
            <a:avLst/>
          </a:prstGeom>
          <a:solidFill>
            <a:srgbClr val="2F5F9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 b="1">
                <a:solidFill>
                  <a:srgbClr val="FFFFFF"/>
                </a:solidFill>
                <a:latin typeface="Microsoft YaHei"/>
              </a:defRPr>
            </a:pPr>
            <a:r>
              <a:t>数据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377440" y="2880360"/>
            <a:ext cx="457200" cy="0"/>
          </a:xfrm>
          <a:prstGeom prst="line">
            <a:avLst/>
          </a:prstGeom>
          <a:ln w="25400">
            <a:solidFill>
              <a:srgbClr val="ADB3B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2834640" y="2331720"/>
            <a:ext cx="1783080" cy="1097280"/>
          </a:xfrm>
          <a:prstGeom prst="roundRect">
            <a:avLst/>
          </a:prstGeom>
          <a:solidFill>
            <a:srgbClr val="2776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 b="1">
                <a:solidFill>
                  <a:srgbClr val="FFFFFF"/>
                </a:solidFill>
                <a:latin typeface="Microsoft YaHei"/>
              </a:defRPr>
            </a:pPr>
            <a:r>
              <a:t>因子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4617720" y="2880360"/>
            <a:ext cx="457200" cy="0"/>
          </a:xfrm>
          <a:prstGeom prst="line">
            <a:avLst/>
          </a:prstGeom>
          <a:ln w="25400">
            <a:solidFill>
              <a:srgbClr val="ADB3B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5074920" y="2331720"/>
            <a:ext cx="1783080" cy="1097280"/>
          </a:xfrm>
          <a:prstGeom prst="roundRect">
            <a:avLst/>
          </a:prstGeom>
          <a:solidFill>
            <a:srgbClr val="AC7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 b="1">
                <a:solidFill>
                  <a:srgbClr val="FFFFFF"/>
                </a:solidFill>
                <a:latin typeface="Microsoft YaHei"/>
              </a:defRPr>
            </a:pPr>
            <a:r>
              <a:t>投资组合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6858000" y="2880360"/>
            <a:ext cx="457200" cy="0"/>
          </a:xfrm>
          <a:prstGeom prst="line">
            <a:avLst/>
          </a:prstGeom>
          <a:ln w="25400">
            <a:solidFill>
              <a:srgbClr val="ADB3B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7315200" y="2331720"/>
            <a:ext cx="1783080" cy="1097280"/>
          </a:xfrm>
          <a:prstGeom prst="roundRect">
            <a:avLst/>
          </a:prstGeom>
          <a:solidFill>
            <a:srgbClr val="B64F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 b="1">
                <a:solidFill>
                  <a:srgbClr val="FFFFFF"/>
                </a:solidFill>
                <a:latin typeface="Microsoft YaHei"/>
              </a:defRPr>
            </a:pPr>
            <a:r>
              <a:t>风控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9098280" y="2880360"/>
            <a:ext cx="457200" cy="0"/>
          </a:xfrm>
          <a:prstGeom prst="line">
            <a:avLst/>
          </a:prstGeom>
          <a:ln w="25400">
            <a:solidFill>
              <a:srgbClr val="ADB3B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9555480" y="2331720"/>
            <a:ext cx="1783080" cy="1097280"/>
          </a:xfrm>
          <a:prstGeom prst="roundRect">
            <a:avLst/>
          </a:prstGeom>
          <a:solidFill>
            <a:srgbClr val="13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 b="1">
                <a:solidFill>
                  <a:srgbClr val="FFFFFF"/>
                </a:solidFill>
                <a:latin typeface="Microsoft YaHei"/>
              </a:defRPr>
            </a:pPr>
            <a:r>
              <a:t>执行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85800" y="4069080"/>
            <a:ext cx="10972800" cy="1417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5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85800" y="4069080"/>
            <a:ext cx="10972800" cy="146304"/>
          </a:xfrm>
          <a:prstGeom prst="rect">
            <a:avLst/>
          </a:prstGeom>
          <a:solidFill>
            <a:srgbClr val="13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86968" y="4325112"/>
            <a:ext cx="10570464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132B4A"/>
                </a:solidFill>
                <a:latin typeface="Microsoft YaHei"/>
              </a:defRPr>
            </a:pPr>
            <a:r>
              <a:t>流程要点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86968" y="4837176"/>
            <a:ext cx="10607040" cy="484632"/>
          </a:xfrm>
          <a:prstGeom prst="rect">
            <a:avLst/>
          </a:prstGeom>
          <a:noFill/>
        </p:spPr>
        <p:txBody>
          <a:bodyPr wrap="square" lIns="25400" rIns="25400" tIns="12700" bIns="12700">
            <a:spAutoFit/>
          </a:bodyPr>
          <a:lstStyle/>
          <a:p>
            <a:pPr>
              <a:spcAft>
                <a:spcPts val="500"/>
              </a:spcAft>
              <a:defRPr sz="1200">
                <a:solidFill>
                  <a:srgbClr val="323944"/>
                </a:solidFill>
                <a:latin typeface="Microsoft YaHei"/>
              </a:defRPr>
            </a:pPr>
            <a:r>
              <a:t>收益、风控与执行需要协同，核心壁垒在于全链路联动。</a:t>
            </a:r>
          </a:p>
          <a:p>
            <a:pPr>
              <a:spcAft>
                <a:spcPts val="500"/>
              </a:spcAft>
              <a:defRPr sz="1200">
                <a:solidFill>
                  <a:srgbClr val="323944"/>
                </a:solidFill>
                <a:latin typeface="Microsoft YaHei"/>
              </a:defRPr>
            </a:pPr>
            <a:r>
              <a:t>任何单环节失真，最终都会表现为回撤放大、容量受限或执行偏差。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85800" y="5715000"/>
            <a:ext cx="10972800" cy="384048"/>
          </a:xfrm>
          <a:prstGeom prst="roundRect">
            <a:avLst/>
          </a:prstGeom>
          <a:solidFill>
            <a:srgbClr val="E8EF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50392" y="5806440"/>
            <a:ext cx="10643616" cy="20116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1">
                <a:solidFill>
                  <a:srgbClr val="132B4A"/>
                </a:solidFill>
                <a:latin typeface="Microsoft YaHei"/>
              </a:defRPr>
            </a:pPr>
            <a:r>
              <a:t>流程稳定性 = 数据稳定性 + 模型稳定性 + 执行稳定性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27080" y="6437376"/>
            <a:ext cx="73152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6F7885"/>
                </a:solidFill>
                <a:latin typeface="Microsoft YaHei"/>
              </a:defRPr>
            </a:pPr>
            <a: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3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012680" y="274320"/>
            <a:ext cx="1645920" cy="347472"/>
          </a:xfrm>
          <a:prstGeom prst="roundRect">
            <a:avLst/>
          </a:prstGeom>
          <a:solidFill>
            <a:srgbClr val="2776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FFFFFF"/>
                </a:solidFill>
                <a:latin typeface="Microsoft YaHei"/>
              </a:defRPr>
            </a:pPr>
            <a:r>
              <a:t>数据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347472"/>
            <a:ext cx="786384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132B4A"/>
                </a:solidFill>
                <a:latin typeface="Microsoft YaHei"/>
              </a:defRPr>
            </a:pPr>
            <a:r>
              <a:t>数据体系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932688"/>
            <a:ext cx="105156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50">
                <a:solidFill>
                  <a:srgbClr val="6F7885"/>
                </a:solidFill>
                <a:latin typeface="Microsoft YaHei"/>
              </a:defRPr>
            </a:pPr>
            <a:r>
              <a:t>数据覆盖决定信号来源，数据质量决定策略上限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3703320" cy="4297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5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1645920"/>
            <a:ext cx="3703320" cy="146304"/>
          </a:xfrm>
          <a:prstGeom prst="rect">
            <a:avLst/>
          </a:prstGeom>
          <a:solidFill>
            <a:srgbClr val="2F5F9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49808" y="1901952"/>
            <a:ext cx="3300984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900" b="1">
                <a:solidFill>
                  <a:srgbClr val="2F5F98"/>
                </a:solidFill>
                <a:latin typeface="Microsoft YaHei"/>
              </a:defRPr>
            </a:pPr>
            <a:r>
              <a:t>量价数据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808" y="2414016"/>
            <a:ext cx="3337560" cy="3364992"/>
          </a:xfrm>
          <a:prstGeom prst="rect">
            <a:avLst/>
          </a:prstGeom>
          <a:noFill/>
        </p:spPr>
        <p:txBody>
          <a:bodyPr wrap="square" lIns="25400" rIns="25400" tIns="12700" bIns="12700">
            <a:spAutoFit/>
          </a:bodyPr>
          <a:lstStyle/>
          <a:p>
            <a:pPr>
              <a:spcAft>
                <a:spcPts val="500"/>
              </a:spcAft>
              <a:defRPr sz="1300">
                <a:solidFill>
                  <a:srgbClr val="323944"/>
                </a:solidFill>
                <a:latin typeface="Microsoft YaHei"/>
              </a:defRPr>
            </a:pPr>
            <a:r>
              <a:t>内容：K线、行情快照、Tick数据</a:t>
            </a:r>
          </a:p>
          <a:p>
            <a:pPr>
              <a:spcAft>
                <a:spcPts val="500"/>
              </a:spcAft>
              <a:defRPr sz="1300">
                <a:solidFill>
                  <a:srgbClr val="323944"/>
                </a:solidFill>
                <a:latin typeface="Microsoft YaHei"/>
              </a:defRPr>
            </a:pPr>
            <a:r>
              <a:t>来源：交易所、Wind、Tushare</a:t>
            </a:r>
          </a:p>
          <a:p>
            <a:pPr>
              <a:spcAft>
                <a:spcPts val="500"/>
              </a:spcAft>
              <a:defRPr sz="1300">
                <a:solidFill>
                  <a:srgbClr val="323944"/>
                </a:solidFill>
                <a:latin typeface="Microsoft YaHei"/>
              </a:defRPr>
            </a:pPr>
            <a:r>
              <a:t>用途：构建趋势、反转、波动率、量仓共振与微观结构类因子</a:t>
            </a:r>
          </a:p>
          <a:p>
            <a:pPr>
              <a:spcAft>
                <a:spcPts val="500"/>
              </a:spcAft>
              <a:defRPr sz="1300">
                <a:solidFill>
                  <a:srgbClr val="323944"/>
                </a:solidFill>
                <a:latin typeface="Microsoft YaHei"/>
              </a:defRPr>
            </a:pPr>
            <a:r>
              <a:t>更新频率：覆盖毫秒级到日频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51960" y="1645920"/>
            <a:ext cx="3703320" cy="4297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5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251960" y="1645920"/>
            <a:ext cx="3703320" cy="146304"/>
          </a:xfrm>
          <a:prstGeom prst="rect">
            <a:avLst/>
          </a:prstGeom>
          <a:solidFill>
            <a:srgbClr val="2776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53128" y="1901952"/>
            <a:ext cx="3300984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900" b="1">
                <a:solidFill>
                  <a:srgbClr val="27766D"/>
                </a:solidFill>
                <a:latin typeface="Microsoft YaHei"/>
              </a:defRPr>
            </a:pPr>
            <a:r>
              <a:t>基本面数据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53128" y="2414016"/>
            <a:ext cx="3337560" cy="3364992"/>
          </a:xfrm>
          <a:prstGeom prst="rect">
            <a:avLst/>
          </a:prstGeom>
          <a:noFill/>
        </p:spPr>
        <p:txBody>
          <a:bodyPr wrap="square" lIns="25400" rIns="25400" tIns="12700" bIns="12700">
            <a:spAutoFit/>
          </a:bodyPr>
          <a:lstStyle/>
          <a:p>
            <a:pPr>
              <a:spcAft>
                <a:spcPts val="500"/>
              </a:spcAft>
              <a:defRPr sz="1300">
                <a:solidFill>
                  <a:srgbClr val="323944"/>
                </a:solidFill>
                <a:latin typeface="Microsoft YaHei"/>
              </a:defRPr>
            </a:pPr>
            <a:r>
              <a:t>内容：库存、开工率、现货价格、CPI、利率、美元指数、信用利差</a:t>
            </a:r>
          </a:p>
          <a:p>
            <a:pPr>
              <a:spcAft>
                <a:spcPts val="500"/>
              </a:spcAft>
              <a:defRPr sz="1300">
                <a:solidFill>
                  <a:srgbClr val="323944"/>
                </a:solidFill>
                <a:latin typeface="Microsoft YaHei"/>
              </a:defRPr>
            </a:pPr>
            <a:r>
              <a:t>来源：卓创资讯、钢联、上海有色网</a:t>
            </a:r>
          </a:p>
          <a:p>
            <a:pPr>
              <a:spcAft>
                <a:spcPts val="500"/>
              </a:spcAft>
              <a:defRPr sz="1300">
                <a:solidFill>
                  <a:srgbClr val="323944"/>
                </a:solidFill>
                <a:latin typeface="Microsoft YaHei"/>
              </a:defRPr>
            </a:pPr>
            <a:r>
              <a:t>用途：支持品种强弱排序、行业判断以及宏观环境识别</a:t>
            </a:r>
          </a:p>
          <a:p>
            <a:pPr>
              <a:spcAft>
                <a:spcPts val="500"/>
              </a:spcAft>
              <a:defRPr sz="1300">
                <a:solidFill>
                  <a:srgbClr val="323944"/>
                </a:solidFill>
                <a:latin typeface="Microsoft YaHei"/>
              </a:defRPr>
            </a:pPr>
            <a:r>
              <a:t>更新频率：日/周/月/季/年都覆盖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955279" y="1645920"/>
            <a:ext cx="3703320" cy="4297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5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955279" y="1645920"/>
            <a:ext cx="3703320" cy="146304"/>
          </a:xfrm>
          <a:prstGeom prst="rect">
            <a:avLst/>
          </a:prstGeom>
          <a:solidFill>
            <a:srgbClr val="AC7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156448" y="1901952"/>
            <a:ext cx="3300984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900" b="1">
                <a:solidFill>
                  <a:srgbClr val="AC7626"/>
                </a:solidFill>
                <a:latin typeface="Microsoft YaHei"/>
              </a:defRPr>
            </a:pPr>
            <a:r>
              <a:t>另类数据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56448" y="2414016"/>
            <a:ext cx="3337560" cy="3364992"/>
          </a:xfrm>
          <a:prstGeom prst="rect">
            <a:avLst/>
          </a:prstGeom>
          <a:noFill/>
        </p:spPr>
        <p:txBody>
          <a:bodyPr wrap="square" lIns="25400" rIns="25400" tIns="12700" bIns="12700">
            <a:spAutoFit/>
          </a:bodyPr>
          <a:lstStyle/>
          <a:p>
            <a:pPr>
              <a:spcAft>
                <a:spcPts val="500"/>
              </a:spcAft>
              <a:defRPr sz="1300">
                <a:solidFill>
                  <a:srgbClr val="323944"/>
                </a:solidFill>
                <a:latin typeface="Microsoft YaHei"/>
              </a:defRPr>
            </a:pPr>
            <a:r>
              <a:t>内容：卫星图像、分析师预测、各类第三方事件数据</a:t>
            </a:r>
          </a:p>
          <a:p>
            <a:pPr>
              <a:spcAft>
                <a:spcPts val="500"/>
              </a:spcAft>
              <a:defRPr sz="1300">
                <a:solidFill>
                  <a:srgbClr val="323944"/>
                </a:solidFill>
                <a:latin typeface="Microsoft YaHei"/>
              </a:defRPr>
            </a:pPr>
            <a:r>
              <a:t>来源：第三方数据供应商</a:t>
            </a:r>
          </a:p>
          <a:p>
            <a:pPr>
              <a:spcAft>
                <a:spcPts val="500"/>
              </a:spcAft>
              <a:defRPr sz="1300">
                <a:solidFill>
                  <a:srgbClr val="323944"/>
                </a:solidFill>
                <a:latin typeface="Microsoft YaHei"/>
              </a:defRPr>
            </a:pPr>
            <a:r>
              <a:t>用途：补充传统数据难覆盖的数据，同时覆盖了各类事件扰动与市场预期变化</a:t>
            </a:r>
          </a:p>
          <a:p>
            <a:pPr>
              <a:spcAft>
                <a:spcPts val="500"/>
              </a:spcAft>
              <a:defRPr sz="1300">
                <a:solidFill>
                  <a:srgbClr val="323944"/>
                </a:solidFill>
                <a:latin typeface="Microsoft YaHei"/>
              </a:defRPr>
            </a:pPr>
            <a:r>
              <a:t>更新频率：日/周/月/季/年都覆盖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49808" y="6126480"/>
            <a:ext cx="10881360" cy="411480"/>
          </a:xfrm>
          <a:prstGeom prst="roundRect">
            <a:avLst/>
          </a:prstGeom>
          <a:solidFill>
            <a:srgbClr val="E8EF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4400" y="6217920"/>
            <a:ext cx="10552176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1">
                <a:solidFill>
                  <a:srgbClr val="132B4A"/>
                </a:solidFill>
                <a:latin typeface="Microsoft YaHei"/>
              </a:defRPr>
            </a:pPr>
            <a:r>
              <a:t>数据不是越多越好，而是要覆盖不同市场状态，并可持续验证有效性。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927080" y="6437376"/>
            <a:ext cx="73152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6F7885"/>
                </a:solidFill>
                <a:latin typeface="Microsoft YaHei"/>
              </a:defRPr>
            </a:pPr>
            <a: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3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012680" y="274320"/>
            <a:ext cx="1645920" cy="347472"/>
          </a:xfrm>
          <a:prstGeom prst="roundRect">
            <a:avLst/>
          </a:prstGeom>
          <a:solidFill>
            <a:srgbClr val="AC7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FFFFFF"/>
                </a:solidFill>
                <a:latin typeface="Microsoft YaHei"/>
              </a:defRPr>
            </a:pPr>
            <a:r>
              <a:t>因子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347472"/>
            <a:ext cx="786384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132B4A"/>
                </a:solidFill>
                <a:latin typeface="Microsoft YaHei"/>
              </a:defRPr>
            </a:pPr>
            <a:r>
              <a:t>因子构建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932688"/>
            <a:ext cx="105156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50">
                <a:solidFill>
                  <a:srgbClr val="6F7885"/>
                </a:solidFill>
                <a:latin typeface="Microsoft YaHei"/>
              </a:defRPr>
            </a:pPr>
            <a:r>
              <a:t>将复杂市场拆解为可量化表达的信号模块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94360" y="1691640"/>
            <a:ext cx="3611880" cy="4480560"/>
          </a:xfrm>
          <a:prstGeom prst="roundRect">
            <a:avLst/>
          </a:prstGeom>
          <a:solidFill>
            <a:srgbClr val="E8EFF8"/>
          </a:solidFill>
          <a:ln w="12700">
            <a:solidFill>
              <a:srgbClr val="E0E5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94360" y="1691640"/>
            <a:ext cx="3611880" cy="146304"/>
          </a:xfrm>
          <a:prstGeom prst="rect">
            <a:avLst/>
          </a:prstGeom>
          <a:solidFill>
            <a:srgbClr val="2F5F9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95528" y="1947672"/>
            <a:ext cx="3209544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2F5F98"/>
                </a:solidFill>
                <a:latin typeface="Microsoft YaHei"/>
              </a:defRPr>
            </a:pPr>
            <a:r>
              <a:t>量价因子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5528" y="2459736"/>
            <a:ext cx="3246120" cy="3547872"/>
          </a:xfrm>
          <a:prstGeom prst="rect">
            <a:avLst/>
          </a:prstGeom>
          <a:noFill/>
        </p:spPr>
        <p:txBody>
          <a:bodyPr wrap="square" lIns="25400" rIns="25400" tIns="12700" bIns="12700">
            <a:spAutoFit/>
          </a:bodyPr>
          <a:lstStyle/>
          <a:p>
            <a:pPr>
              <a:spcAft>
                <a:spcPts val="500"/>
              </a:spcAft>
              <a:defRPr sz="1300">
                <a:solidFill>
                  <a:srgbClr val="323944"/>
                </a:solidFill>
                <a:latin typeface="Microsoft YaHei"/>
              </a:defRPr>
            </a:pPr>
            <a:r>
              <a:t>分类：趋势类、反转类、微结构、高频类</a:t>
            </a:r>
          </a:p>
          <a:p>
            <a:pPr>
              <a:spcAft>
                <a:spcPts val="500"/>
              </a:spcAft>
              <a:defRPr sz="1300">
                <a:solidFill>
                  <a:srgbClr val="323944"/>
                </a:solidFill>
                <a:latin typeface="Microsoft YaHei"/>
              </a:defRPr>
            </a:pPr>
            <a:r>
              <a:t>示例：双均线、收益率偏度、能量潮、订单簿不平衡、微价格偏差</a:t>
            </a:r>
          </a:p>
          <a:p>
            <a:pPr>
              <a:spcAft>
                <a:spcPts val="500"/>
              </a:spcAft>
              <a:defRPr sz="1300">
                <a:solidFill>
                  <a:srgbClr val="323944"/>
                </a:solidFill>
                <a:latin typeface="Microsoft YaHei"/>
              </a:defRPr>
            </a:pPr>
            <a:r>
              <a:t>优点：更新频率高、响应速度快、可直接映射交易行为</a:t>
            </a:r>
          </a:p>
          <a:p>
            <a:pPr>
              <a:spcAft>
                <a:spcPts val="500"/>
              </a:spcAft>
              <a:defRPr sz="1300">
                <a:solidFill>
                  <a:srgbClr val="323944"/>
                </a:solidFill>
                <a:latin typeface="Microsoft YaHei"/>
              </a:defRPr>
            </a:pPr>
            <a:r>
              <a:t>适配性：适合趋势主导、波动放大、情绪切换较快的阶段</a:t>
            </a:r>
          </a:p>
          <a:p>
            <a:pPr>
              <a:spcAft>
                <a:spcPts val="500"/>
              </a:spcAft>
              <a:defRPr sz="1300">
                <a:solidFill>
                  <a:srgbClr val="323944"/>
                </a:solidFill>
                <a:latin typeface="Microsoft YaHei"/>
              </a:defRPr>
            </a:pPr>
            <a:r>
              <a:t>特点：对行情拐点敏感，但对噪声和交易成本也更敏感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0" y="1691640"/>
            <a:ext cx="3611880" cy="4480560"/>
          </a:xfrm>
          <a:prstGeom prst="roundRect">
            <a:avLst/>
          </a:prstGeom>
          <a:solidFill>
            <a:srgbClr val="E8F3F0"/>
          </a:solidFill>
          <a:ln w="12700">
            <a:solidFill>
              <a:srgbClr val="E0E5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297680" y="1691640"/>
            <a:ext cx="3611880" cy="146304"/>
          </a:xfrm>
          <a:prstGeom prst="rect">
            <a:avLst/>
          </a:prstGeom>
          <a:solidFill>
            <a:srgbClr val="2776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98848" y="1947672"/>
            <a:ext cx="3209544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27766D"/>
                </a:solidFill>
                <a:latin typeface="Microsoft YaHei"/>
              </a:defRPr>
            </a:pPr>
            <a:r>
              <a:t>基本面因子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98848" y="2459736"/>
            <a:ext cx="3246120" cy="3547872"/>
          </a:xfrm>
          <a:prstGeom prst="rect">
            <a:avLst/>
          </a:prstGeom>
          <a:noFill/>
        </p:spPr>
        <p:txBody>
          <a:bodyPr wrap="square" lIns="25400" rIns="25400" tIns="12700" bIns="12700">
            <a:spAutoFit/>
          </a:bodyPr>
          <a:lstStyle/>
          <a:p>
            <a:pPr>
              <a:spcAft>
                <a:spcPts val="500"/>
              </a:spcAft>
              <a:defRPr sz="1300">
                <a:solidFill>
                  <a:srgbClr val="323944"/>
                </a:solidFill>
                <a:latin typeface="Microsoft YaHei"/>
              </a:defRPr>
            </a:pPr>
            <a:r>
              <a:t>分类：产业基本面因子、宏观因子</a:t>
            </a:r>
          </a:p>
          <a:p>
            <a:pPr>
              <a:spcAft>
                <a:spcPts val="500"/>
              </a:spcAft>
              <a:defRPr sz="1300">
                <a:solidFill>
                  <a:srgbClr val="323944"/>
                </a:solidFill>
                <a:latin typeface="Microsoft YaHei"/>
              </a:defRPr>
            </a:pPr>
            <a:r>
              <a:t>示例：库存变化、基差结构、CPI、PPI、利率、美元指数</a:t>
            </a:r>
          </a:p>
          <a:p>
            <a:pPr>
              <a:spcAft>
                <a:spcPts val="500"/>
              </a:spcAft>
              <a:defRPr sz="1300">
                <a:solidFill>
                  <a:srgbClr val="323944"/>
                </a:solidFill>
                <a:latin typeface="Microsoft YaHei"/>
              </a:defRPr>
            </a:pPr>
            <a:r>
              <a:t>优点：经济含义清晰、跨周期解释力强、稳定性较好</a:t>
            </a:r>
          </a:p>
          <a:p>
            <a:pPr>
              <a:spcAft>
                <a:spcPts val="500"/>
              </a:spcAft>
              <a:defRPr sz="1300">
                <a:solidFill>
                  <a:srgbClr val="323944"/>
                </a:solidFill>
                <a:latin typeface="Microsoft YaHei"/>
              </a:defRPr>
            </a:pPr>
            <a:r>
              <a:t>适配性：适合中低频方向判断和跨品种横向配置</a:t>
            </a:r>
          </a:p>
          <a:p>
            <a:pPr>
              <a:spcAft>
                <a:spcPts val="500"/>
              </a:spcAft>
              <a:defRPr sz="1300">
                <a:solidFill>
                  <a:srgbClr val="323944"/>
                </a:solidFill>
                <a:latin typeface="Microsoft YaHei"/>
              </a:defRPr>
            </a:pPr>
            <a:r>
              <a:t>特点：更新频率相对较低，通常需要与量价信号联合使用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01000" y="1691640"/>
            <a:ext cx="3611880" cy="4480560"/>
          </a:xfrm>
          <a:prstGeom prst="roundRect">
            <a:avLst/>
          </a:prstGeom>
          <a:solidFill>
            <a:srgbClr val="F8F0E3"/>
          </a:solidFill>
          <a:ln w="12700">
            <a:solidFill>
              <a:srgbClr val="E0E5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001000" y="1691640"/>
            <a:ext cx="3611880" cy="146304"/>
          </a:xfrm>
          <a:prstGeom prst="rect">
            <a:avLst/>
          </a:prstGeom>
          <a:solidFill>
            <a:srgbClr val="AC7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02168" y="1947672"/>
            <a:ext cx="3209544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AC7626"/>
                </a:solidFill>
                <a:latin typeface="Microsoft YaHei"/>
              </a:defRPr>
            </a:pPr>
            <a:r>
              <a:t>另类因子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02168" y="2459736"/>
            <a:ext cx="3246120" cy="3547872"/>
          </a:xfrm>
          <a:prstGeom prst="rect">
            <a:avLst/>
          </a:prstGeom>
          <a:noFill/>
        </p:spPr>
        <p:txBody>
          <a:bodyPr wrap="square" lIns="25400" rIns="25400" tIns="12700" bIns="12700">
            <a:spAutoFit/>
          </a:bodyPr>
          <a:lstStyle/>
          <a:p>
            <a:pPr>
              <a:spcAft>
                <a:spcPts val="500"/>
              </a:spcAft>
              <a:defRPr sz="1300">
                <a:solidFill>
                  <a:srgbClr val="323944"/>
                </a:solidFill>
                <a:latin typeface="Microsoft YaHei"/>
              </a:defRPr>
            </a:pPr>
            <a:r>
              <a:t>分类：事件驱动类、替代数据类、预期偏差类</a:t>
            </a:r>
          </a:p>
          <a:p>
            <a:pPr>
              <a:spcAft>
                <a:spcPts val="500"/>
              </a:spcAft>
              <a:defRPr sz="1300">
                <a:solidFill>
                  <a:srgbClr val="323944"/>
                </a:solidFill>
                <a:latin typeface="Microsoft YaHei"/>
              </a:defRPr>
            </a:pPr>
            <a:r>
              <a:t>示例：天气扰动、卫星产能监测、产业链事件映射</a:t>
            </a:r>
          </a:p>
          <a:p>
            <a:pPr>
              <a:spcAft>
                <a:spcPts val="500"/>
              </a:spcAft>
              <a:defRPr sz="1300">
                <a:solidFill>
                  <a:srgbClr val="323944"/>
                </a:solidFill>
                <a:latin typeface="Microsoft YaHei"/>
              </a:defRPr>
            </a:pPr>
            <a:r>
              <a:t>优点：信息增量高，能捕捉传统因子难覆盖的变化</a:t>
            </a:r>
          </a:p>
          <a:p>
            <a:pPr>
              <a:spcAft>
                <a:spcPts val="500"/>
              </a:spcAft>
              <a:defRPr sz="1300">
                <a:solidFill>
                  <a:srgbClr val="323944"/>
                </a:solidFill>
                <a:latin typeface="Microsoft YaHei"/>
              </a:defRPr>
            </a:pPr>
            <a:r>
              <a:t>适配性：适合突发事件驱动或常规信号拥挤阶段</a:t>
            </a:r>
          </a:p>
          <a:p>
            <a:pPr>
              <a:spcAft>
                <a:spcPts val="500"/>
              </a:spcAft>
              <a:defRPr sz="1300">
                <a:solidFill>
                  <a:srgbClr val="323944"/>
                </a:solidFill>
                <a:latin typeface="Microsoft YaHei"/>
              </a:defRPr>
            </a:pPr>
            <a:r>
              <a:t>特点：噪声较高，需先做清洗和验证，再进入生产流程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31520" y="5715000"/>
            <a:ext cx="10881360" cy="384048"/>
          </a:xfrm>
          <a:prstGeom prst="roundRect">
            <a:avLst/>
          </a:prstGeom>
          <a:solidFill>
            <a:srgbClr val="E8EF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96112" y="5806440"/>
            <a:ext cx="10552176" cy="20116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1">
                <a:solidFill>
                  <a:srgbClr val="132B4A"/>
                </a:solidFill>
                <a:latin typeface="Microsoft YaHei"/>
              </a:defRPr>
            </a:pPr>
            <a:r>
              <a:t>推荐做法：主因子负责稳定收益，增量因子负责提升边际收益。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927080" y="6437376"/>
            <a:ext cx="73152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6F7885"/>
                </a:solidFill>
                <a:latin typeface="Microsoft YaHei"/>
              </a:defRPr>
            </a:pPr>
            <a: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3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012680" y="274320"/>
            <a:ext cx="1645920" cy="347472"/>
          </a:xfrm>
          <a:prstGeom prst="roundRect">
            <a:avLst/>
          </a:prstGeom>
          <a:solidFill>
            <a:srgbClr val="B64F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FFFFFF"/>
                </a:solidFill>
                <a:latin typeface="Microsoft YaHei"/>
              </a:defRPr>
            </a:pPr>
            <a:r>
              <a:t>评估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347472"/>
            <a:ext cx="786384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132B4A"/>
                </a:solidFill>
                <a:latin typeface="Microsoft YaHei"/>
              </a:defRPr>
            </a:pPr>
            <a:r>
              <a:t>评估体系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932688"/>
            <a:ext cx="105156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50">
                <a:solidFill>
                  <a:srgbClr val="6F7885"/>
                </a:solidFill>
                <a:latin typeface="Microsoft YaHei"/>
              </a:defRPr>
            </a:pPr>
            <a:r>
              <a:t>不仅评估单因子收益，还评估其对现有组合的边际增益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94360" y="1600200"/>
            <a:ext cx="2834640" cy="4480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5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94360" y="1600200"/>
            <a:ext cx="2834640" cy="146304"/>
          </a:xfrm>
          <a:prstGeom prst="rect">
            <a:avLst/>
          </a:prstGeom>
          <a:solidFill>
            <a:srgbClr val="2F5F9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95528" y="1856232"/>
            <a:ext cx="2432304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2F5F98"/>
                </a:solidFill>
                <a:latin typeface="Microsoft YaHei"/>
              </a:defRPr>
            </a:pPr>
            <a:r>
              <a:t>基础指标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5528" y="2368296"/>
            <a:ext cx="2468880" cy="3547872"/>
          </a:xfrm>
          <a:prstGeom prst="rect">
            <a:avLst/>
          </a:prstGeom>
          <a:noFill/>
        </p:spPr>
        <p:txBody>
          <a:bodyPr wrap="square" lIns="25400" rIns="25400" tIns="12700" bIns="12700">
            <a:spAutoFit/>
          </a:bodyPr>
          <a:lstStyle/>
          <a:p>
            <a:pPr>
              <a:spcAft>
                <a:spcPts val="500"/>
              </a:spcAft>
              <a:defRPr sz="1300">
                <a:solidFill>
                  <a:srgbClr val="323944"/>
                </a:solidFill>
                <a:latin typeface="Microsoft YaHei"/>
              </a:defRPr>
            </a:pPr>
            <a:r>
              <a:t>夏普比率</a:t>
            </a:r>
          </a:p>
          <a:p>
            <a:pPr>
              <a:spcAft>
                <a:spcPts val="500"/>
              </a:spcAft>
              <a:defRPr sz="1300">
                <a:solidFill>
                  <a:srgbClr val="323944"/>
                </a:solidFill>
                <a:latin typeface="Microsoft YaHei"/>
              </a:defRPr>
            </a:pPr>
            <a:r>
              <a:t>最大回撤深度</a:t>
            </a:r>
          </a:p>
          <a:p>
            <a:pPr>
              <a:spcAft>
                <a:spcPts val="500"/>
              </a:spcAft>
              <a:defRPr sz="1300">
                <a:solidFill>
                  <a:srgbClr val="323944"/>
                </a:solidFill>
                <a:latin typeface="Microsoft YaHei"/>
              </a:defRPr>
            </a:pPr>
            <a:r>
              <a:t>最大回撤时间</a:t>
            </a:r>
          </a:p>
          <a:p>
            <a:pPr>
              <a:spcAft>
                <a:spcPts val="500"/>
              </a:spcAft>
              <a:defRPr sz="1300">
                <a:solidFill>
                  <a:srgbClr val="323944"/>
                </a:solidFill>
                <a:latin typeface="Microsoft YaHei"/>
              </a:defRPr>
            </a:pPr>
            <a:r>
              <a:t>持仓周期</a:t>
            </a:r>
          </a:p>
          <a:p>
            <a:pPr>
              <a:spcAft>
                <a:spcPts val="500"/>
              </a:spcAft>
              <a:defRPr sz="1300">
                <a:solidFill>
                  <a:srgbClr val="323944"/>
                </a:solidFill>
                <a:latin typeface="Microsoft YaHei"/>
              </a:defRPr>
            </a:pPr>
            <a:r>
              <a:t>容量约束</a:t>
            </a:r>
          </a:p>
          <a:p>
            <a:pPr>
              <a:spcAft>
                <a:spcPts val="500"/>
              </a:spcAft>
              <a:defRPr sz="1300">
                <a:solidFill>
                  <a:srgbClr val="323944"/>
                </a:solidFill>
                <a:latin typeface="Microsoft YaHei"/>
              </a:defRPr>
            </a:pPr>
            <a:r>
              <a:t>滑点敏感度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3611880" y="1645920"/>
          <a:ext cx="4160520" cy="20116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11" name="Chart 10"/>
          <p:cNvGraphicFramePr>
            <a:graphicFrameLocks noGrp="1"/>
          </p:cNvGraphicFramePr>
          <p:nvPr/>
        </p:nvGraphicFramePr>
        <p:xfrm>
          <a:off x="7909560" y="1645920"/>
          <a:ext cx="4160520" cy="201168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graphicFrame>
        <p:nvGraphicFramePr>
          <p:cNvPr id="12" name="Chart 11"/>
          <p:cNvGraphicFramePr>
            <a:graphicFrameLocks noGrp="1"/>
          </p:cNvGraphicFramePr>
          <p:nvPr/>
        </p:nvGraphicFramePr>
        <p:xfrm>
          <a:off x="3611880" y="3794760"/>
          <a:ext cx="4160520" cy="2011680"/>
        </p:xfrm>
        <a:graphic>
          <a:graphicData uri="http://schemas.openxmlformats.org/drawingml/2006/chart">
            <c:chart xmlns:c="http://schemas.openxmlformats.org/drawingml/2006/chart" r:id="rId4"/>
          </a:graphicData>
        </a:graphic>
      </p:graphicFrame>
      <p:graphicFrame>
        <p:nvGraphicFramePr>
          <p:cNvPr id="13" name="Chart 12"/>
          <p:cNvGraphicFramePr>
            <a:graphicFrameLocks noGrp="1"/>
          </p:cNvGraphicFramePr>
          <p:nvPr/>
        </p:nvGraphicFramePr>
        <p:xfrm>
          <a:off x="7909560" y="3794760"/>
          <a:ext cx="4160520" cy="2011680"/>
        </p:xfrm>
        <a:graphic>
          <a:graphicData uri="http://schemas.openxmlformats.org/drawingml/2006/chart">
            <c:chart xmlns:c="http://schemas.openxmlformats.org/drawingml/2006/chart" r:id="rId5"/>
          </a:graphicData>
        </a:graphic>
      </p:graphicFrame>
      <p:sp>
        <p:nvSpPr>
          <p:cNvPr id="14" name="Rounded Rectangle 13"/>
          <p:cNvSpPr/>
          <p:nvPr/>
        </p:nvSpPr>
        <p:spPr>
          <a:xfrm>
            <a:off x="594360" y="5989320"/>
            <a:ext cx="10972800" cy="384048"/>
          </a:xfrm>
          <a:prstGeom prst="roundRect">
            <a:avLst/>
          </a:prstGeom>
          <a:solidFill>
            <a:srgbClr val="E8EF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58952" y="6080759"/>
            <a:ext cx="10643616" cy="20116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1">
                <a:solidFill>
                  <a:srgbClr val="132B4A"/>
                </a:solidFill>
                <a:latin typeface="Microsoft YaHei"/>
              </a:defRPr>
            </a:pPr>
            <a:r>
              <a:t>评估原则：先看稳定性，再看收益弹性，最后看可交易性。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27080" y="6437376"/>
            <a:ext cx="73152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6F7885"/>
                </a:solidFill>
                <a:latin typeface="Microsoft YaHei"/>
              </a:defRPr>
            </a:pPr>
            <a: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3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012680" y="274320"/>
            <a:ext cx="1645920" cy="347472"/>
          </a:xfrm>
          <a:prstGeom prst="roundRect">
            <a:avLst/>
          </a:prstGeom>
          <a:solidFill>
            <a:srgbClr val="B64F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FFFFFF"/>
                </a:solidFill>
                <a:latin typeface="Microsoft YaHei"/>
              </a:defRPr>
            </a:pPr>
            <a:r>
              <a:t>评估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347472"/>
            <a:ext cx="786384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132B4A"/>
                </a:solidFill>
                <a:latin typeface="Microsoft YaHei"/>
              </a:defRPr>
            </a:pPr>
            <a:r>
              <a:t>增量评估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932688"/>
            <a:ext cx="105156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50">
                <a:solidFill>
                  <a:srgbClr val="6F7885"/>
                </a:solidFill>
                <a:latin typeface="Microsoft YaHei"/>
              </a:defRPr>
            </a:pPr>
            <a:r>
              <a:t>通过新因子累计与残差累计判断新增信号对原组合的边际贡献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1618488" y="1600200"/>
          <a:ext cx="8961120" cy="22402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1618488" y="4069080"/>
          <a:ext cx="8961120" cy="150876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10927080" y="6437376"/>
            <a:ext cx="73152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6F7885"/>
                </a:solidFill>
                <a:latin typeface="Microsoft YaHei"/>
              </a:defRPr>
            </a:pPr>
            <a: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3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012680" y="274320"/>
            <a:ext cx="1645920" cy="347472"/>
          </a:xfrm>
          <a:prstGeom prst="roundRect">
            <a:avLst/>
          </a:prstGeom>
          <a:solidFill>
            <a:srgbClr val="13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FFFFFF"/>
                </a:solidFill>
                <a:latin typeface="Microsoft YaHei"/>
              </a:defRPr>
            </a:pPr>
            <a:r>
              <a:t>组合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347472"/>
            <a:ext cx="786384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132B4A"/>
                </a:solidFill>
                <a:latin typeface="Microsoft YaHei"/>
              </a:defRPr>
            </a:pPr>
            <a:r>
              <a:t>投资组合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932688"/>
            <a:ext cx="105156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50">
                <a:solidFill>
                  <a:srgbClr val="6F7885"/>
                </a:solidFill>
                <a:latin typeface="Microsoft YaHei"/>
              </a:defRPr>
            </a:pPr>
            <a:r>
              <a:t>组合不是简单叠加高Sharpe因子，而是在相关性约束下实现稳定输出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645920"/>
            <a:ext cx="3794760" cy="4480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5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645920"/>
            <a:ext cx="3794760" cy="146304"/>
          </a:xfrm>
          <a:prstGeom prst="rect">
            <a:avLst/>
          </a:prstGeom>
          <a:solidFill>
            <a:srgbClr val="2F5F9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41247" y="1901952"/>
            <a:ext cx="3392424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2F5F98"/>
                </a:solidFill>
                <a:latin typeface="Microsoft YaHei"/>
              </a:defRPr>
            </a:pPr>
            <a:r>
              <a:t>核心原则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7" y="2414016"/>
            <a:ext cx="3429000" cy="3547872"/>
          </a:xfrm>
          <a:prstGeom prst="rect">
            <a:avLst/>
          </a:prstGeom>
          <a:noFill/>
        </p:spPr>
        <p:txBody>
          <a:bodyPr wrap="square" lIns="25400" rIns="25400" tIns="12700" bIns="12700">
            <a:spAutoFit/>
          </a:bodyPr>
          <a:lstStyle/>
          <a:p>
            <a:pPr>
              <a:spcAft>
                <a:spcPts val="500"/>
              </a:spcAft>
              <a:defRPr sz="1300">
                <a:solidFill>
                  <a:srgbClr val="323944"/>
                </a:solidFill>
                <a:latin typeface="Microsoft YaHei"/>
              </a:defRPr>
            </a:pPr>
            <a:r>
              <a:t>先做波动率标准化，再进行权重合成。</a:t>
            </a:r>
          </a:p>
          <a:p>
            <a:pPr>
              <a:spcAft>
                <a:spcPts val="500"/>
              </a:spcAft>
              <a:defRPr sz="1300">
                <a:solidFill>
                  <a:srgbClr val="323944"/>
                </a:solidFill>
                <a:latin typeface="Microsoft YaHei"/>
              </a:defRPr>
            </a:pPr>
            <a:r>
              <a:t>新增因子需与现有组合保持低相关。</a:t>
            </a:r>
          </a:p>
          <a:p>
            <a:pPr>
              <a:spcAft>
                <a:spcPts val="500"/>
              </a:spcAft>
              <a:defRPr sz="1300">
                <a:solidFill>
                  <a:srgbClr val="323944"/>
                </a:solidFill>
                <a:latin typeface="Microsoft YaHei"/>
              </a:defRPr>
            </a:pPr>
            <a:r>
              <a:t>评估标准不是单腿收益，而是整体组合增益。</a:t>
            </a:r>
          </a:p>
          <a:p>
            <a:pPr>
              <a:spcAft>
                <a:spcPts val="500"/>
              </a:spcAft>
              <a:defRPr sz="1300">
                <a:solidFill>
                  <a:srgbClr val="323944"/>
                </a:solidFill>
                <a:latin typeface="Microsoft YaHei"/>
              </a:defRPr>
            </a:pPr>
            <a:r>
              <a:t>控制单策略权重上限，避免局部信号主导全组合。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26280" y="1645920"/>
            <a:ext cx="3429000" cy="4480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5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526280" y="1645920"/>
            <a:ext cx="3429000" cy="146304"/>
          </a:xfrm>
          <a:prstGeom prst="rect">
            <a:avLst/>
          </a:prstGeom>
          <a:solidFill>
            <a:srgbClr val="2776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727448" y="1901952"/>
            <a:ext cx="3026664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27766D"/>
                </a:solidFill>
                <a:latin typeface="Microsoft YaHei"/>
              </a:defRPr>
            </a:pPr>
            <a:r>
              <a:t>组合结构建议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27448" y="2414016"/>
            <a:ext cx="3063240" cy="3547872"/>
          </a:xfrm>
          <a:prstGeom prst="rect">
            <a:avLst/>
          </a:prstGeom>
          <a:noFill/>
        </p:spPr>
        <p:txBody>
          <a:bodyPr wrap="square" lIns="25400" rIns="25400" tIns="12700" bIns="12700">
            <a:spAutoFit/>
          </a:bodyPr>
          <a:lstStyle/>
          <a:p>
            <a:pPr>
              <a:spcAft>
                <a:spcPts val="500"/>
              </a:spcAft>
              <a:defRPr sz="1300">
                <a:solidFill>
                  <a:srgbClr val="323944"/>
                </a:solidFill>
                <a:latin typeface="Microsoft YaHei"/>
              </a:defRPr>
            </a:pPr>
            <a:r>
              <a:t>趋势：捕捉主线行情。</a:t>
            </a:r>
          </a:p>
          <a:p>
            <a:pPr>
              <a:spcAft>
                <a:spcPts val="500"/>
              </a:spcAft>
              <a:defRPr sz="1300">
                <a:solidFill>
                  <a:srgbClr val="323944"/>
                </a:solidFill>
                <a:latin typeface="Microsoft YaHei"/>
              </a:defRPr>
            </a:pPr>
            <a:r>
              <a:t>反转：补足震荡阶段收益。</a:t>
            </a:r>
          </a:p>
          <a:p>
            <a:pPr>
              <a:spcAft>
                <a:spcPts val="500"/>
              </a:spcAft>
              <a:defRPr sz="1300">
                <a:solidFill>
                  <a:srgbClr val="323944"/>
                </a:solidFill>
                <a:latin typeface="Microsoft YaHei"/>
              </a:defRPr>
            </a:pPr>
            <a:r>
              <a:t>另类：提供增量信息。</a:t>
            </a:r>
          </a:p>
          <a:p>
            <a:pPr>
              <a:spcAft>
                <a:spcPts val="500"/>
              </a:spcAft>
              <a:defRPr sz="1300">
                <a:solidFill>
                  <a:srgbClr val="323944"/>
                </a:solidFill>
                <a:latin typeface="Microsoft YaHei"/>
              </a:defRPr>
            </a:pPr>
            <a:r>
              <a:t>按Sector与品种分层配置，避免一刀切。</a:t>
            </a:r>
          </a:p>
          <a:p>
            <a:pPr>
              <a:spcAft>
                <a:spcPts val="500"/>
              </a:spcAft>
              <a:defRPr sz="1300">
                <a:solidFill>
                  <a:srgbClr val="323944"/>
                </a:solidFill>
                <a:latin typeface="Microsoft YaHei"/>
              </a:defRPr>
            </a:pPr>
            <a:r>
              <a:t>按月复核风格暴露，避免组合漂移。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92440" y="1645920"/>
            <a:ext cx="3429000" cy="4480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5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092440" y="1645920"/>
            <a:ext cx="3429000" cy="146304"/>
          </a:xfrm>
          <a:prstGeom prst="rect">
            <a:avLst/>
          </a:prstGeom>
          <a:solidFill>
            <a:srgbClr val="AC7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93608" y="1901952"/>
            <a:ext cx="3026664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AC7626"/>
                </a:solidFill>
                <a:latin typeface="Microsoft YaHei"/>
              </a:defRPr>
            </a:pPr>
            <a:r>
              <a:t>落地判断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93608" y="2414016"/>
            <a:ext cx="3063240" cy="3547872"/>
          </a:xfrm>
          <a:prstGeom prst="rect">
            <a:avLst/>
          </a:prstGeom>
          <a:noFill/>
        </p:spPr>
        <p:txBody>
          <a:bodyPr wrap="square" lIns="25400" rIns="25400" tIns="12700" bIns="12700">
            <a:spAutoFit/>
          </a:bodyPr>
          <a:lstStyle/>
          <a:p>
            <a:pPr>
              <a:spcAft>
                <a:spcPts val="500"/>
              </a:spcAft>
              <a:defRPr sz="1300">
                <a:solidFill>
                  <a:srgbClr val="323944"/>
                </a:solidFill>
                <a:latin typeface="Microsoft YaHei"/>
              </a:defRPr>
            </a:pPr>
            <a:r>
              <a:t>优先保留参数高原，而非参数尖峰。</a:t>
            </a:r>
          </a:p>
          <a:p>
            <a:pPr>
              <a:spcAft>
                <a:spcPts val="500"/>
              </a:spcAft>
              <a:defRPr sz="1300">
                <a:solidFill>
                  <a:srgbClr val="323944"/>
                </a:solidFill>
                <a:latin typeface="Microsoft YaHei"/>
              </a:defRPr>
            </a:pPr>
            <a:r>
              <a:t>关注净值平滑度与回撤修复速度。</a:t>
            </a:r>
          </a:p>
          <a:p>
            <a:pPr>
              <a:spcAft>
                <a:spcPts val="500"/>
              </a:spcAft>
              <a:defRPr sz="1300">
                <a:solidFill>
                  <a:srgbClr val="323944"/>
                </a:solidFill>
                <a:latin typeface="Microsoft YaHei"/>
              </a:defRPr>
            </a:pPr>
            <a:r>
              <a:t>对相关性、容量与换手进行联合约束。</a:t>
            </a:r>
          </a:p>
          <a:p>
            <a:pPr>
              <a:spcAft>
                <a:spcPts val="500"/>
              </a:spcAft>
              <a:defRPr sz="1300">
                <a:solidFill>
                  <a:srgbClr val="323944"/>
                </a:solidFill>
                <a:latin typeface="Microsoft YaHei"/>
              </a:defRPr>
            </a:pPr>
            <a:r>
              <a:t>在同等收益下优先选择交易成本更低的组合。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0080" y="5715000"/>
            <a:ext cx="10972800" cy="384048"/>
          </a:xfrm>
          <a:prstGeom prst="roundRect">
            <a:avLst/>
          </a:prstGeom>
          <a:solidFill>
            <a:srgbClr val="E8EF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1" y="5806440"/>
            <a:ext cx="10643616" cy="20116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1">
                <a:solidFill>
                  <a:srgbClr val="132B4A"/>
                </a:solidFill>
                <a:latin typeface="Microsoft YaHei"/>
              </a:defRPr>
            </a:pPr>
            <a:r>
              <a:t>组合目标：在可控回撤前提下，持续输出可复制的超额收益。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927080" y="6437376"/>
            <a:ext cx="73152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6F7885"/>
                </a:solidFill>
                <a:latin typeface="Microsoft YaHei"/>
              </a:defRPr>
            </a:pPr>
            <a: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3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012680" y="274320"/>
            <a:ext cx="1645920" cy="347472"/>
          </a:xfrm>
          <a:prstGeom prst="roundRect">
            <a:avLst/>
          </a:prstGeom>
          <a:solidFill>
            <a:srgbClr val="B64F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FFFFFF"/>
                </a:solidFill>
                <a:latin typeface="Microsoft YaHei"/>
              </a:defRPr>
            </a:pPr>
            <a:r>
              <a:t>风控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347472"/>
            <a:ext cx="786384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132B4A"/>
                </a:solidFill>
                <a:latin typeface="Microsoft YaHei"/>
              </a:defRPr>
            </a:pPr>
            <a:r>
              <a:t>风控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932688"/>
            <a:ext cx="105156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50">
                <a:solidFill>
                  <a:srgbClr val="6F7885"/>
                </a:solidFill>
                <a:latin typeface="Microsoft YaHei"/>
              </a:defRPr>
            </a:pPr>
            <a:r>
              <a:t>风控目标不是压制收益，而是确保组合在极端环境下仍可管理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645920"/>
            <a:ext cx="3566160" cy="19202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5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645920"/>
            <a:ext cx="3566160" cy="146304"/>
          </a:xfrm>
          <a:prstGeom prst="rect">
            <a:avLst/>
          </a:prstGeom>
          <a:solidFill>
            <a:srgbClr val="B64F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41247" y="1901952"/>
            <a:ext cx="3163824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B64F42"/>
                </a:solidFill>
                <a:latin typeface="Microsoft YaHei"/>
              </a:defRPr>
            </a:pPr>
            <a:r>
              <a:t>硬约束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7" y="2414016"/>
            <a:ext cx="3200400" cy="987552"/>
          </a:xfrm>
          <a:prstGeom prst="rect">
            <a:avLst/>
          </a:prstGeom>
          <a:noFill/>
        </p:spPr>
        <p:txBody>
          <a:bodyPr wrap="square" lIns="25400" rIns="25400" tIns="12700" bIns="12700">
            <a:spAutoFit/>
          </a:bodyPr>
          <a:lstStyle/>
          <a:p>
            <a:pPr>
              <a:spcAft>
                <a:spcPts val="500"/>
              </a:spcAft>
              <a:defRPr sz="1300">
                <a:solidFill>
                  <a:srgbClr val="323944"/>
                </a:solidFill>
                <a:latin typeface="Microsoft YaHei"/>
              </a:defRPr>
            </a:pPr>
            <a:r>
              <a:t>VaR约束。</a:t>
            </a:r>
          </a:p>
          <a:p>
            <a:pPr>
              <a:spcAft>
                <a:spcPts val="500"/>
              </a:spcAft>
              <a:defRPr sz="1300">
                <a:solidFill>
                  <a:srgbClr val="323944"/>
                </a:solidFill>
                <a:latin typeface="Microsoft YaHei"/>
              </a:defRPr>
            </a:pPr>
            <a:r>
              <a:t>产品投资限制。</a:t>
            </a:r>
          </a:p>
          <a:p>
            <a:pPr>
              <a:spcAft>
                <a:spcPts val="500"/>
              </a:spcAft>
              <a:defRPr sz="1300">
                <a:solidFill>
                  <a:srgbClr val="323944"/>
                </a:solidFill>
                <a:latin typeface="Microsoft YaHei"/>
              </a:defRPr>
            </a:pPr>
            <a:r>
              <a:t>交易所投资限制。</a:t>
            </a:r>
          </a:p>
          <a:p>
            <a:pPr>
              <a:spcAft>
                <a:spcPts val="500"/>
              </a:spcAft>
              <a:defRPr sz="1300">
                <a:solidFill>
                  <a:srgbClr val="323944"/>
                </a:solidFill>
                <a:latin typeface="Microsoft YaHei"/>
              </a:defRPr>
            </a:pPr>
            <a:r>
              <a:t>单品种与单行业集中度限制。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3749039"/>
            <a:ext cx="3566160" cy="19202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5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3749039"/>
            <a:ext cx="3566160" cy="146304"/>
          </a:xfrm>
          <a:prstGeom prst="rect">
            <a:avLst/>
          </a:prstGeom>
          <a:solidFill>
            <a:srgbClr val="AC7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41247" y="4005072"/>
            <a:ext cx="3163824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AC7626"/>
                </a:solidFill>
                <a:latin typeface="Microsoft YaHei"/>
              </a:defRPr>
            </a:pPr>
            <a:r>
              <a:t>异常情况处理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1247" y="4517136"/>
            <a:ext cx="3200400" cy="987552"/>
          </a:xfrm>
          <a:prstGeom prst="rect">
            <a:avLst/>
          </a:prstGeom>
          <a:noFill/>
        </p:spPr>
        <p:txBody>
          <a:bodyPr wrap="square" lIns="25400" rIns="25400" tIns="12700" bIns="12700">
            <a:spAutoFit/>
          </a:bodyPr>
          <a:lstStyle/>
          <a:p>
            <a:pPr>
              <a:spcAft>
                <a:spcPts val="500"/>
              </a:spcAft>
              <a:defRPr sz="1300">
                <a:solidFill>
                  <a:srgbClr val="323944"/>
                </a:solidFill>
                <a:latin typeface="Microsoft YaHei"/>
              </a:defRPr>
            </a:pPr>
            <a:r>
              <a:t>盘中剧烈波动时，需考虑无法按常规方式平仓的场景。</a:t>
            </a:r>
          </a:p>
          <a:p>
            <a:pPr>
              <a:spcAft>
                <a:spcPts val="500"/>
              </a:spcAft>
              <a:defRPr sz="1300">
                <a:solidFill>
                  <a:srgbClr val="323944"/>
                </a:solidFill>
                <a:latin typeface="Microsoft YaHei"/>
              </a:defRPr>
            </a:pPr>
            <a:r>
              <a:t>预设降频、减仓、替代合约与人工接管机制。</a:t>
            </a:r>
          </a:p>
          <a:p>
            <a:pPr>
              <a:spcAft>
                <a:spcPts val="500"/>
              </a:spcAft>
              <a:defRPr sz="1300">
                <a:solidFill>
                  <a:srgbClr val="323944"/>
                </a:solidFill>
                <a:latin typeface="Microsoft YaHei"/>
              </a:defRPr>
            </a:pPr>
            <a:r>
              <a:t>异常行情结束后，执行复盘并更新熔断参数。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480560" y="1645920"/>
            <a:ext cx="6766560" cy="4114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5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480560" y="1645920"/>
            <a:ext cx="6766560" cy="146304"/>
          </a:xfrm>
          <a:prstGeom prst="rect">
            <a:avLst/>
          </a:prstGeom>
          <a:solidFill>
            <a:srgbClr val="13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681728" y="1901952"/>
            <a:ext cx="6364224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132B4A"/>
                </a:solidFill>
                <a:latin typeface="Microsoft YaHei"/>
              </a:defRPr>
            </a:pPr>
            <a:r>
              <a:t>双层仓位系数管理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81728" y="2414016"/>
            <a:ext cx="6400800" cy="3182112"/>
          </a:xfrm>
          <a:prstGeom prst="rect">
            <a:avLst/>
          </a:prstGeom>
          <a:noFill/>
        </p:spPr>
        <p:txBody>
          <a:bodyPr wrap="square" lIns="25400" rIns="25400" tIns="12700" bIns="12700">
            <a:spAutoFit/>
          </a:bodyPr>
          <a:lstStyle/>
          <a:p>
            <a:pPr>
              <a:spcAft>
                <a:spcPts val="500"/>
              </a:spcAft>
              <a:defRPr sz="1300">
                <a:solidFill>
                  <a:srgbClr val="323944"/>
                </a:solidFill>
                <a:latin typeface="Microsoft YaHei"/>
              </a:defRPr>
            </a:pPr>
            <a:r>
              <a:t>第一层：节假日前后，按流动性与跳空风险调整仓位。</a:t>
            </a:r>
          </a:p>
          <a:p>
            <a:pPr>
              <a:spcAft>
                <a:spcPts val="500"/>
              </a:spcAft>
              <a:defRPr sz="1300">
                <a:solidFill>
                  <a:srgbClr val="323944"/>
                </a:solidFill>
                <a:latin typeface="Microsoft YaHei"/>
              </a:defRPr>
            </a:pPr>
            <a:r>
              <a:t>第二层：触发预警线、止损线后，自动调整单策略仓位。</a:t>
            </a:r>
          </a:p>
          <a:p>
            <a:pPr>
              <a:spcAft>
                <a:spcPts val="500"/>
              </a:spcAft>
              <a:defRPr sz="1300">
                <a:solidFill>
                  <a:srgbClr val="323944"/>
                </a:solidFill>
                <a:latin typeface="Microsoft YaHei"/>
              </a:defRPr>
            </a:pPr>
            <a:r>
              <a:t>第三层：当某类策略持续回撤时，逐步下调该策略族权重。</a:t>
            </a:r>
          </a:p>
          <a:p>
            <a:pPr>
              <a:spcAft>
                <a:spcPts val="500"/>
              </a:spcAft>
              <a:defRPr sz="1300">
                <a:solidFill>
                  <a:srgbClr val="323944"/>
                </a:solidFill>
                <a:latin typeface="Microsoft YaHei"/>
              </a:defRPr>
            </a:pPr>
            <a:r>
              <a:t>第四层（可选）：组合波动超阈值时，启用临时风险预算压降。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0080" y="5715000"/>
            <a:ext cx="10972800" cy="384048"/>
          </a:xfrm>
          <a:prstGeom prst="roundRect">
            <a:avLst/>
          </a:prstGeom>
          <a:solidFill>
            <a:srgbClr val="E8EF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1" y="5806440"/>
            <a:ext cx="10643616" cy="20116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1">
                <a:solidFill>
                  <a:srgbClr val="132B4A"/>
                </a:solidFill>
                <a:latin typeface="Microsoft YaHei"/>
              </a:defRPr>
            </a:pPr>
            <a:r>
              <a:t>风控不是‘事后止损’，而是覆盖盘前、盘中、盘后的闭环管理。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927080" y="6437376"/>
            <a:ext cx="73152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6F7885"/>
                </a:solidFill>
                <a:latin typeface="Microsoft YaHei"/>
              </a:defRPr>
            </a:pPr>
            <a: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3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012680" y="274320"/>
            <a:ext cx="1645920" cy="347472"/>
          </a:xfrm>
          <a:prstGeom prst="roundRect">
            <a:avLst/>
          </a:prstGeom>
          <a:solidFill>
            <a:srgbClr val="2F5F9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FFFFFF"/>
                </a:solidFill>
                <a:latin typeface="Microsoft YaHei"/>
              </a:defRPr>
            </a:pPr>
            <a:r>
              <a:t>执行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347472"/>
            <a:ext cx="786384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132B4A"/>
                </a:solidFill>
                <a:latin typeface="Microsoft YaHei"/>
              </a:defRPr>
            </a:pPr>
            <a:r>
              <a:t>交易执行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932688"/>
            <a:ext cx="105156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50">
                <a:solidFill>
                  <a:srgbClr val="6F7885"/>
                </a:solidFill>
                <a:latin typeface="Microsoft YaHei"/>
              </a:defRPr>
            </a:pPr>
            <a:r>
              <a:t>执行不是末端细节，而是影响策略收益兑现的关键环节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37360"/>
            <a:ext cx="3474720" cy="4389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5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737360"/>
            <a:ext cx="3474720" cy="146304"/>
          </a:xfrm>
          <a:prstGeom prst="rect">
            <a:avLst/>
          </a:prstGeom>
          <a:solidFill>
            <a:srgbClr val="2F5F9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41247" y="1993391"/>
            <a:ext cx="3072384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2F5F98"/>
                </a:solidFill>
                <a:latin typeface="Microsoft YaHei"/>
              </a:defRPr>
            </a:pPr>
            <a:r>
              <a:t>日度少量调仓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7" y="2505456"/>
            <a:ext cx="3108960" cy="3456432"/>
          </a:xfrm>
          <a:prstGeom prst="rect">
            <a:avLst/>
          </a:prstGeom>
          <a:noFill/>
        </p:spPr>
        <p:txBody>
          <a:bodyPr wrap="square" lIns="25400" rIns="25400" tIns="12700" bIns="12700">
            <a:spAutoFit/>
          </a:bodyPr>
          <a:lstStyle/>
          <a:p>
            <a:pPr>
              <a:spcAft>
                <a:spcPts val="500"/>
              </a:spcAft>
              <a:defRPr sz="1300">
                <a:solidFill>
                  <a:srgbClr val="323944"/>
                </a:solidFill>
                <a:latin typeface="Microsoft YaHei"/>
              </a:defRPr>
            </a:pPr>
            <a:r>
              <a:t>执行方式：VWAP。</a:t>
            </a:r>
          </a:p>
          <a:p>
            <a:pPr>
              <a:spcAft>
                <a:spcPts val="500"/>
              </a:spcAft>
              <a:defRPr sz="1300">
                <a:solidFill>
                  <a:srgbClr val="323944"/>
                </a:solidFill>
                <a:latin typeface="Microsoft YaHei"/>
              </a:defRPr>
            </a:pPr>
            <a:r>
              <a:t>适用于日常小幅调仓，目标是降低冲击成本。</a:t>
            </a:r>
          </a:p>
          <a:p>
            <a:pPr>
              <a:spcAft>
                <a:spcPts val="500"/>
              </a:spcAft>
              <a:defRPr sz="1300">
                <a:solidFill>
                  <a:srgbClr val="323944"/>
                </a:solidFill>
                <a:latin typeface="Microsoft YaHei"/>
              </a:defRPr>
            </a:pPr>
            <a:r>
              <a:t>优先在流动性较高时段分批完成。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89120" y="1737360"/>
            <a:ext cx="3474720" cy="4389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5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89120" y="1737360"/>
            <a:ext cx="3474720" cy="146304"/>
          </a:xfrm>
          <a:prstGeom prst="rect">
            <a:avLst/>
          </a:prstGeom>
          <a:solidFill>
            <a:srgbClr val="2776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90288" y="1993391"/>
            <a:ext cx="3072384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27766D"/>
                </a:solidFill>
                <a:latin typeface="Microsoft YaHei"/>
              </a:defRPr>
            </a:pPr>
            <a:r>
              <a:t>建仓、清仓、换月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90288" y="2505456"/>
            <a:ext cx="3108960" cy="3456432"/>
          </a:xfrm>
          <a:prstGeom prst="rect">
            <a:avLst/>
          </a:prstGeom>
          <a:noFill/>
        </p:spPr>
        <p:txBody>
          <a:bodyPr wrap="square" lIns="25400" rIns="25400" tIns="12700" bIns="12700">
            <a:spAutoFit/>
          </a:bodyPr>
          <a:lstStyle/>
          <a:p>
            <a:pPr>
              <a:spcAft>
                <a:spcPts val="500"/>
              </a:spcAft>
              <a:defRPr sz="1300">
                <a:solidFill>
                  <a:srgbClr val="323944"/>
                </a:solidFill>
                <a:latin typeface="Microsoft YaHei"/>
              </a:defRPr>
            </a:pPr>
            <a:r>
              <a:t>执行方式：TWAP。</a:t>
            </a:r>
          </a:p>
          <a:p>
            <a:pPr>
              <a:spcAft>
                <a:spcPts val="500"/>
              </a:spcAft>
              <a:defRPr sz="1300">
                <a:solidFill>
                  <a:srgbClr val="323944"/>
                </a:solidFill>
                <a:latin typeface="Microsoft YaHei"/>
              </a:defRPr>
            </a:pPr>
            <a:r>
              <a:t>适用于主力换月、新建仓位或集中退出。</a:t>
            </a:r>
          </a:p>
          <a:p>
            <a:pPr>
              <a:spcAft>
                <a:spcPts val="500"/>
              </a:spcAft>
              <a:defRPr sz="1300">
                <a:solidFill>
                  <a:srgbClr val="323944"/>
                </a:solidFill>
                <a:latin typeface="Microsoft YaHei"/>
              </a:defRPr>
            </a:pPr>
            <a:r>
              <a:t>按交易窗口拆分委托，降低一次性冲击。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38160" y="1737360"/>
            <a:ext cx="3474720" cy="4389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5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138160" y="1737360"/>
            <a:ext cx="3474720" cy="146304"/>
          </a:xfrm>
          <a:prstGeom prst="rect">
            <a:avLst/>
          </a:prstGeom>
          <a:solidFill>
            <a:srgbClr val="AC7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339328" y="1993391"/>
            <a:ext cx="3072384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AC7626"/>
                </a:solidFill>
                <a:latin typeface="Microsoft YaHei"/>
              </a:defRPr>
            </a:pPr>
            <a:r>
              <a:t>混合执行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39328" y="2505456"/>
            <a:ext cx="3108960" cy="3456432"/>
          </a:xfrm>
          <a:prstGeom prst="rect">
            <a:avLst/>
          </a:prstGeom>
          <a:noFill/>
        </p:spPr>
        <p:txBody>
          <a:bodyPr wrap="square" lIns="25400" rIns="25400" tIns="12700" bIns="12700">
            <a:spAutoFit/>
          </a:bodyPr>
          <a:lstStyle/>
          <a:p>
            <a:pPr>
              <a:spcAft>
                <a:spcPts val="500"/>
              </a:spcAft>
              <a:defRPr sz="1300">
                <a:solidFill>
                  <a:srgbClr val="323944"/>
                </a:solidFill>
                <a:latin typeface="Microsoft YaHei"/>
              </a:defRPr>
            </a:pPr>
            <a:r>
              <a:t>TWAP与VWAP结合。</a:t>
            </a:r>
          </a:p>
          <a:p>
            <a:pPr>
              <a:spcAft>
                <a:spcPts val="500"/>
              </a:spcAft>
              <a:defRPr sz="1300">
                <a:solidFill>
                  <a:srgbClr val="323944"/>
                </a:solidFill>
                <a:latin typeface="Microsoft YaHei"/>
              </a:defRPr>
            </a:pPr>
            <a:r>
              <a:t>保证每分钟至少一手下单，兼顾成交效率与市场存在感。</a:t>
            </a:r>
          </a:p>
          <a:p>
            <a:pPr>
              <a:spcAft>
                <a:spcPts val="500"/>
              </a:spcAft>
              <a:defRPr sz="1300">
                <a:solidFill>
                  <a:srgbClr val="323944"/>
                </a:solidFill>
                <a:latin typeface="Microsoft YaHei"/>
              </a:defRPr>
            </a:pPr>
            <a:r>
              <a:t>实时监控成交偏差，动态调整执行节奏。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0080" y="5806440"/>
            <a:ext cx="10972800" cy="292608"/>
          </a:xfrm>
          <a:prstGeom prst="roundRect">
            <a:avLst/>
          </a:prstGeom>
          <a:solidFill>
            <a:srgbClr val="E8EF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1" y="5897879"/>
            <a:ext cx="10643616" cy="1097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1">
                <a:solidFill>
                  <a:srgbClr val="132B4A"/>
                </a:solidFill>
                <a:latin typeface="Microsoft YaHei"/>
              </a:defRPr>
            </a:pPr>
            <a:r>
              <a:t>执行质量指标：成交偏离、冲击成本、完成率。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927080" y="6437376"/>
            <a:ext cx="73152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6F7885"/>
                </a:solidFill>
                <a:latin typeface="Microsoft YaHei"/>
              </a:defRPr>
            </a:pPr>
            <a: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3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012680" y="274320"/>
            <a:ext cx="1645920" cy="347472"/>
          </a:xfrm>
          <a:prstGeom prst="roundRect">
            <a:avLst/>
          </a:prstGeom>
          <a:solidFill>
            <a:srgbClr val="13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FFFFFF"/>
                </a:solidFill>
                <a:latin typeface="Microsoft YaHei"/>
              </a:defRPr>
            </a:pPr>
            <a:r>
              <a:t>总结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347472"/>
            <a:ext cx="786384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132B4A"/>
                </a:solidFill>
                <a:latin typeface="Microsoft YaHei"/>
              </a:defRPr>
            </a:pPr>
            <a:r>
              <a:t>总结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932688"/>
            <a:ext cx="105156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50">
                <a:solidFill>
                  <a:srgbClr val="6F7885"/>
                </a:solidFill>
                <a:latin typeface="Microsoft YaHei"/>
              </a:defRPr>
            </a:pPr>
            <a:r>
              <a:t>以统一框架打通数据、研究与交易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1691640"/>
            <a:ext cx="10972800" cy="4480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5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85800" y="1691640"/>
            <a:ext cx="10972800" cy="146304"/>
          </a:xfrm>
          <a:prstGeom prst="rect">
            <a:avLst/>
          </a:prstGeom>
          <a:solidFill>
            <a:srgbClr val="13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86968" y="1947672"/>
            <a:ext cx="10570464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132B4A"/>
                </a:solidFill>
                <a:latin typeface="Microsoft YaHei"/>
              </a:defRPr>
            </a:pPr>
            <a:r>
              <a:t>关键结论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459736"/>
            <a:ext cx="10607040" cy="3547872"/>
          </a:xfrm>
          <a:prstGeom prst="rect">
            <a:avLst/>
          </a:prstGeom>
          <a:noFill/>
        </p:spPr>
        <p:txBody>
          <a:bodyPr wrap="square" lIns="25400" rIns="25400" tIns="12700" bIns="12700">
            <a:spAutoFit/>
          </a:bodyPr>
          <a:lstStyle/>
          <a:p>
            <a:pPr>
              <a:spcAft>
                <a:spcPts val="500"/>
              </a:spcAft>
              <a:defRPr sz="1300">
                <a:solidFill>
                  <a:srgbClr val="323944"/>
                </a:solidFill>
                <a:latin typeface="Microsoft YaHei"/>
              </a:defRPr>
            </a:pPr>
            <a:r>
              <a:t>数据是基础，因子是表达，组合是放大器；风控与执行是收益兑现的最后两道关口。</a:t>
            </a:r>
          </a:p>
          <a:p>
            <a:pPr>
              <a:spcAft>
                <a:spcPts val="500"/>
              </a:spcAft>
              <a:defRPr sz="1300">
                <a:solidFill>
                  <a:srgbClr val="323944"/>
                </a:solidFill>
                <a:latin typeface="Microsoft YaHei"/>
              </a:defRPr>
            </a:pPr>
            <a:r>
              <a:t>后续扩展应优先考虑低相关增量，避免堆叠同质化信号。</a:t>
            </a:r>
          </a:p>
          <a:p>
            <a:pPr>
              <a:spcAft>
                <a:spcPts val="500"/>
              </a:spcAft>
              <a:defRPr sz="1300">
                <a:solidFill>
                  <a:srgbClr val="323944"/>
                </a:solidFill>
                <a:latin typeface="Microsoft YaHei"/>
              </a:defRPr>
            </a:pPr>
            <a:r>
              <a:t>策略研发需要持续回答三个问题：是否稳定、是否增益、是否可执行。</a:t>
            </a:r>
          </a:p>
          <a:p>
            <a:pPr>
              <a:spcAft>
                <a:spcPts val="500"/>
              </a:spcAft>
              <a:defRPr sz="1300">
                <a:solidFill>
                  <a:srgbClr val="323944"/>
                </a:solidFill>
                <a:latin typeface="Microsoft YaHei"/>
              </a:defRPr>
            </a:pPr>
            <a:r>
              <a:t>建议建立统一监控看板，贯通研究、交易、风控指标。</a:t>
            </a:r>
          </a:p>
          <a:p>
            <a:pPr>
              <a:spcAft>
                <a:spcPts val="500"/>
              </a:spcAft>
              <a:defRPr sz="1300">
                <a:solidFill>
                  <a:srgbClr val="323944"/>
                </a:solidFill>
                <a:latin typeface="Microsoft YaHei"/>
              </a:defRPr>
            </a:pPr>
            <a:r>
              <a:t>通过流程化、标准化、可回溯的研究体系，提升策略长期稳定性与可复制性。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85800" y="5715000"/>
            <a:ext cx="10972800" cy="384048"/>
          </a:xfrm>
          <a:prstGeom prst="roundRect">
            <a:avLst/>
          </a:prstGeom>
          <a:solidFill>
            <a:srgbClr val="E8EF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50392" y="5806440"/>
            <a:ext cx="10643616" cy="20116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1">
                <a:solidFill>
                  <a:srgbClr val="132B4A"/>
                </a:solidFill>
                <a:latin typeface="Microsoft YaHei"/>
              </a:defRPr>
            </a:pPr>
            <a:r>
              <a:t>核心目标：在可控风险前提下，稳定输出可解释、可复制的超额收益。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27080" y="6437376"/>
            <a:ext cx="73152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6F7885"/>
                </a:solidFill>
                <a:latin typeface="Microsoft YaHei"/>
              </a:defRPr>
            </a:pPr>
            <a:r>
              <a:t>10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