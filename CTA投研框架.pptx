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GMV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2.8</c:v>
                </c:pt>
                <c:pt idx="1">
                  <c:v>3.2</c:v>
                </c:pt>
                <c:pt idx="2">
                  <c:v>2.5</c:v>
                </c:pt>
                <c:pt idx="3">
                  <c:v>3.6</c:v>
                </c:pt>
                <c:pt idx="4">
                  <c:v>2.2999999999999998</c:v>
                </c:pt>
                <c:pt idx="5">
                  <c:v>3.8</c:v>
                </c:pt>
                <c:pt idx="6">
                  <c:v>3.1</c:v>
                </c:pt>
                <c:pt idx="7">
                  <c:v>2.6</c:v>
                </c:pt>
                <c:pt idx="8">
                  <c:v>3.4</c:v>
                </c:pt>
                <c:pt idx="9">
                  <c:v>2.9</c:v>
                </c:pt>
                <c:pt idx="10">
                  <c:v>3.7</c:v>
                </c:pt>
                <c:pt idx="11">
                  <c:v>2.4</c:v>
                </c:pt>
                <c:pt idx="12">
                  <c:v>3.3</c:v>
                </c:pt>
                <c:pt idx="13">
                  <c:v>2.7</c:v>
                </c:pt>
                <c:pt idx="14">
                  <c:v>3.9</c:v>
                </c:pt>
                <c:pt idx="15">
                  <c:v>2.2000000000000002</c:v>
                </c:pt>
                <c:pt idx="16">
                  <c:v>3.5</c:v>
                </c:pt>
                <c:pt idx="17">
                  <c:v>2.8</c:v>
                </c:pt>
                <c:pt idx="18">
                  <c:v>3.2</c:v>
                </c:pt>
                <c:pt idx="19">
                  <c:v>2.5</c:v>
                </c:pt>
                <c:pt idx="20">
                  <c:v>3.7</c:v>
                </c:pt>
                <c:pt idx="21">
                  <c:v>3</c:v>
                </c:pt>
                <c:pt idx="22">
                  <c:v>2.4</c:v>
                </c:pt>
                <c:pt idx="23">
                  <c:v>3.6</c:v>
                </c:pt>
                <c:pt idx="24">
                  <c:v>2.9</c:v>
                </c:pt>
                <c:pt idx="25">
                  <c:v>3.3</c:v>
                </c:pt>
                <c:pt idx="26">
                  <c:v>2.6</c:v>
                </c:pt>
                <c:pt idx="27">
                  <c:v>3.8</c:v>
                </c:pt>
                <c:pt idx="28">
                  <c:v>2.2999999999999998</c:v>
                </c:pt>
                <c:pt idx="29">
                  <c:v>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D6-472D-863B-46E9AA9530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5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Delta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Delta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-0.5</c:v>
                </c:pt>
                <c:pt idx="1">
                  <c:v>-0.3</c:v>
                </c:pt>
                <c:pt idx="2">
                  <c:v>0.4</c:v>
                </c:pt>
                <c:pt idx="3">
                  <c:v>0.1</c:v>
                </c:pt>
                <c:pt idx="4">
                  <c:v>0.8</c:v>
                </c:pt>
                <c:pt idx="5">
                  <c:v>1.2</c:v>
                </c:pt>
                <c:pt idx="6">
                  <c:v>1.5</c:v>
                </c:pt>
                <c:pt idx="7">
                  <c:v>0.9</c:v>
                </c:pt>
                <c:pt idx="8">
                  <c:v>0.3</c:v>
                </c:pt>
                <c:pt idx="9">
                  <c:v>-0.4</c:v>
                </c:pt>
                <c:pt idx="10">
                  <c:v>-0.9</c:v>
                </c:pt>
                <c:pt idx="11">
                  <c:v>0.2</c:v>
                </c:pt>
                <c:pt idx="12">
                  <c:v>-0.7</c:v>
                </c:pt>
                <c:pt idx="13">
                  <c:v>-0.2</c:v>
                </c:pt>
                <c:pt idx="14">
                  <c:v>0.6</c:v>
                </c:pt>
                <c:pt idx="15">
                  <c:v>0.3</c:v>
                </c:pt>
                <c:pt idx="16">
                  <c:v>1</c:v>
                </c:pt>
                <c:pt idx="17">
                  <c:v>1.8</c:v>
                </c:pt>
                <c:pt idx="18">
                  <c:v>2.1</c:v>
                </c:pt>
                <c:pt idx="19">
                  <c:v>1.3</c:v>
                </c:pt>
                <c:pt idx="20">
                  <c:v>0.6</c:v>
                </c:pt>
                <c:pt idx="21">
                  <c:v>-0.1</c:v>
                </c:pt>
                <c:pt idx="22">
                  <c:v>-0.8</c:v>
                </c:pt>
                <c:pt idx="23">
                  <c:v>0.3</c:v>
                </c:pt>
                <c:pt idx="24">
                  <c:v>-1.4</c:v>
                </c:pt>
                <c:pt idx="25">
                  <c:v>-0.8</c:v>
                </c:pt>
                <c:pt idx="26">
                  <c:v>0.2</c:v>
                </c:pt>
                <c:pt idx="27">
                  <c:v>-0.3</c:v>
                </c:pt>
                <c:pt idx="28">
                  <c:v>1.1000000000000001</c:v>
                </c:pt>
                <c:pt idx="29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D3F-4728-B8FF-7799E5A807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At val="-2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"/>
          <c:min val="-2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PnL </a:t>
            </a:r>
            <a:r>
              <a:rPr lang="zh-CN" altLang="en-US"/>
              <a:t>工作日分布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周一</c:v>
                </c:pt>
                <c:pt idx="1">
                  <c:v>周二</c:v>
                </c:pt>
                <c:pt idx="2">
                  <c:v>周三</c:v>
                </c:pt>
                <c:pt idx="3">
                  <c:v>周四</c:v>
                </c:pt>
                <c:pt idx="4">
                  <c:v>周五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0.12</c:v>
                </c:pt>
                <c:pt idx="1">
                  <c:v>0.08</c:v>
                </c:pt>
                <c:pt idx="2">
                  <c:v>-0.03</c:v>
                </c:pt>
                <c:pt idx="3">
                  <c:v>0.15</c:v>
                </c:pt>
                <c:pt idx="4">
                  <c:v>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F3-4F6F-8F3B-1B083A768F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25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 dirty="0" err="1"/>
              <a:t>PnL</a:t>
            </a:r>
            <a:r>
              <a:rPr lang="en-US" dirty="0"/>
              <a:t> </a:t>
            </a:r>
            <a:r>
              <a:rPr lang="zh-CN" altLang="en-US" dirty="0"/>
              <a:t>月度分布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0.18</c:v>
                </c:pt>
                <c:pt idx="1">
                  <c:v>-0.05</c:v>
                </c:pt>
                <c:pt idx="2">
                  <c:v>0.22</c:v>
                </c:pt>
                <c:pt idx="3">
                  <c:v>7.0000000000000007E-2</c:v>
                </c:pt>
                <c:pt idx="4">
                  <c:v>-0.11</c:v>
                </c:pt>
                <c:pt idx="5">
                  <c:v>0.14000000000000001</c:v>
                </c:pt>
                <c:pt idx="6">
                  <c:v>0.09</c:v>
                </c:pt>
                <c:pt idx="7">
                  <c:v>0.03</c:v>
                </c:pt>
                <c:pt idx="8">
                  <c:v>0.16</c:v>
                </c:pt>
                <c:pt idx="9">
                  <c:v>-0.08</c:v>
                </c:pt>
                <c:pt idx="10">
                  <c:v>0.2</c:v>
                </c:pt>
                <c:pt idx="11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C4-424A-A8A2-3E5755BF7F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8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3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累计收益率</c:v>
                </c:pt>
              </c:strCache>
            </c:strRef>
          </c:tx>
          <c:spPr>
            <a:ln w="3810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</c:v>
                </c:pt>
                <c:pt idx="1">
                  <c:v>13</c:v>
                </c:pt>
                <c:pt idx="2">
                  <c:v>28</c:v>
                </c:pt>
                <c:pt idx="3">
                  <c:v>20</c:v>
                </c:pt>
                <c:pt idx="4">
                  <c:v>40</c:v>
                </c:pt>
                <c:pt idx="5">
                  <c:v>58</c:v>
                </c:pt>
                <c:pt idx="6">
                  <c:v>78</c:v>
                </c:pt>
                <c:pt idx="7">
                  <c:v>68</c:v>
                </c:pt>
                <c:pt idx="8">
                  <c:v>90</c:v>
                </c:pt>
                <c:pt idx="9">
                  <c:v>110</c:v>
                </c:pt>
                <c:pt idx="10">
                  <c:v>133</c:v>
                </c:pt>
                <c:pt idx="11">
                  <c:v>123</c:v>
                </c:pt>
                <c:pt idx="12">
                  <c:v>153</c:v>
                </c:pt>
                <c:pt idx="13">
                  <c:v>175</c:v>
                </c:pt>
                <c:pt idx="14">
                  <c:v>198</c:v>
                </c:pt>
                <c:pt idx="15">
                  <c:v>183</c:v>
                </c:pt>
                <c:pt idx="16">
                  <c:v>215</c:v>
                </c:pt>
                <c:pt idx="17">
                  <c:v>238</c:v>
                </c:pt>
                <c:pt idx="18">
                  <c:v>260</c:v>
                </c:pt>
                <c:pt idx="19">
                  <c:v>280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990-4192-9408-BA3B7F3CB1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累计残差</c:v>
                </c:pt>
              </c:strCache>
            </c:strRef>
          </c:tx>
          <c:spPr>
            <a:ln w="38100">
              <a:solidFill>
                <a:srgbClr val="B64F4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10</c:v>
                </c:pt>
                <c:pt idx="5">
                  <c:v>14</c:v>
                </c:pt>
                <c:pt idx="6">
                  <c:v>19</c:v>
                </c:pt>
                <c:pt idx="7">
                  <c:v>17</c:v>
                </c:pt>
                <c:pt idx="8">
                  <c:v>22</c:v>
                </c:pt>
                <c:pt idx="9">
                  <c:v>27</c:v>
                </c:pt>
                <c:pt idx="10">
                  <c:v>33</c:v>
                </c:pt>
                <c:pt idx="11">
                  <c:v>30</c:v>
                </c:pt>
                <c:pt idx="12">
                  <c:v>37</c:v>
                </c:pt>
                <c:pt idx="13">
                  <c:v>43</c:v>
                </c:pt>
                <c:pt idx="14">
                  <c:v>49</c:v>
                </c:pt>
                <c:pt idx="15">
                  <c:v>46</c:v>
                </c:pt>
                <c:pt idx="16">
                  <c:v>54</c:v>
                </c:pt>
                <c:pt idx="17">
                  <c:v>61</c:v>
                </c:pt>
                <c:pt idx="18">
                  <c:v>68</c:v>
                </c:pt>
                <c:pt idx="19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990-4192-9408-BA3B7F3CB1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0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日内收益率</c:v>
                </c:pt>
              </c:strCache>
            </c:strRef>
          </c:tx>
          <c:spPr>
            <a:ln w="28575">
              <a:solidFill>
                <a:srgbClr val="2F5F98"/>
              </a:solidFill>
            </a:ln>
          </c:spPr>
          <c:cat>
            <c:strRef>
              <c:f>Sheet1!$A$2:$A$17</c:f>
              <c:strCache>
                <c:ptCount val="16"/>
                <c:pt idx="0">
                  <c:v>21:00</c:v>
                </c:pt>
                <c:pt idx="2">
                  <c:v>21:30</c:v>
                </c:pt>
                <c:pt idx="3">
                  <c:v>22:00</c:v>
                </c:pt>
                <c:pt idx="4">
                  <c:v>23:00</c:v>
                </c:pt>
                <c:pt idx="5">
                  <c:v>00:00</c:v>
                </c:pt>
                <c:pt idx="6">
                  <c:v>01:00</c:v>
                </c:pt>
                <c:pt idx="7">
                  <c:v>02:00</c:v>
                </c:pt>
                <c:pt idx="8">
                  <c:v>08:59</c:v>
                </c:pt>
                <c:pt idx="9">
                  <c:v>09:00</c:v>
                </c:pt>
                <c:pt idx="11">
                  <c:v>10:00</c:v>
                </c:pt>
                <c:pt idx="12">
                  <c:v>11:00</c:v>
                </c:pt>
                <c:pt idx="13">
                  <c:v>13:00</c:v>
                </c:pt>
                <c:pt idx="14">
                  <c:v>14:00</c:v>
                </c:pt>
                <c:pt idx="15">
                  <c:v>15:00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0.11</c:v>
                </c:pt>
                <c:pt idx="2">
                  <c:v>0.112</c:v>
                </c:pt>
                <c:pt idx="3">
                  <c:v>0.115</c:v>
                </c:pt>
                <c:pt idx="4">
                  <c:v>0.11799999999999999</c:v>
                </c:pt>
                <c:pt idx="5">
                  <c:v>0.121</c:v>
                </c:pt>
                <c:pt idx="6">
                  <c:v>0.124</c:v>
                </c:pt>
                <c:pt idx="7">
                  <c:v>0.127</c:v>
                </c:pt>
                <c:pt idx="8">
                  <c:v>0.129</c:v>
                </c:pt>
                <c:pt idx="9">
                  <c:v>0.13</c:v>
                </c:pt>
                <c:pt idx="10">
                  <c:v>0.20499999999999999</c:v>
                </c:pt>
                <c:pt idx="11">
                  <c:v>0.20799999999999999</c:v>
                </c:pt>
                <c:pt idx="12">
                  <c:v>0.21099999999999999</c:v>
                </c:pt>
                <c:pt idx="13">
                  <c:v>0.215</c:v>
                </c:pt>
                <c:pt idx="14">
                  <c:v>0.219</c:v>
                </c:pt>
                <c:pt idx="15">
                  <c:v>0.223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B9-4486-9358-BC675578E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194560" cy="109728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2194560" cy="109728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682495"/>
            <a:ext cx="2194560" cy="109728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874519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CTA</a:t>
            </a:r>
            <a:br/>
            <a:r>
              <a:t>投研框架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37160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32B4A"/>
                </a:solidFill>
                <a:latin typeface="Microsoft YaHei"/>
              </a:defRPr>
            </a:pPr>
            <a:r>
              <a:t>从数据、因子到组合与执行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194560"/>
            <a:ext cx="6217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23944"/>
                </a:solidFill>
                <a:latin typeface="Microsoft YaHei"/>
              </a:defRPr>
            </a:pPr>
            <a:r>
              <a:t>CTA 投研框架总览</a:t>
            </a:r>
          </a:p>
          <a:p>
            <a:pPr>
              <a:spcAft>
                <a:spcPts val="10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聚焦策略研发的关键链路：数据、因子、评估、组合、风控、执行</a:t>
            </a:r>
          </a:p>
          <a:p>
            <a:pPr>
              <a:spcAft>
                <a:spcPts val="10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目标：构建稳定、可扩展、可解释的商品期货量化体系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90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策略主线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76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组合增益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62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风险约束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CTA策略投研流程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将研究链路拆分为五个环节，便于复盘与归因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31720"/>
            <a:ext cx="1783080" cy="1097280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数据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4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34640" y="2331720"/>
            <a:ext cx="1783080" cy="1097280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因子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2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2331720"/>
            <a:ext cx="1783080" cy="1097280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投资组合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0" y="2331720"/>
            <a:ext cx="1783080" cy="1097280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风控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555480" y="2331720"/>
            <a:ext cx="1783080" cy="1097280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执行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10972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5800" y="4069080"/>
            <a:ext cx="10972800" cy="146304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968" y="4325112"/>
            <a:ext cx="105704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32B4A"/>
                </a:solidFill>
                <a:latin typeface="Microsoft YaHei"/>
              </a:defRPr>
            </a:pPr>
            <a:r>
              <a:t>流程要点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837176"/>
            <a:ext cx="10607040" cy="4591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因子、</a:t>
            </a:r>
            <a:r>
              <a:rPr dirty="0" err="1"/>
              <a:t>风控与执行需要协同，核心壁垒在于全链路联动</a:t>
            </a:r>
            <a:r>
              <a:rPr dirty="0"/>
              <a:t>。</a:t>
            </a:r>
          </a:p>
          <a:p>
            <a:pPr>
              <a:spcAft>
                <a:spcPts val="500"/>
              </a:spcAft>
              <a:defRPr sz="12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任何单环节失真，最终都会表现为回撤放大、容量受限或执行偏差</a:t>
            </a:r>
            <a:r>
              <a:rPr dirty="0"/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数据体系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数据覆盖决定信号来源，数据质量决定策略上限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703320" cy="429768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7033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F5F98"/>
                </a:solidFill>
                <a:latin typeface="Microsoft YaHei"/>
              </a:defRPr>
            </a:pPr>
            <a:r>
              <a:t>量价数据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337560" cy="162608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sz="1300" dirty="0" err="1"/>
              <a:t>分类：K线、行情快照、Tick数据</a:t>
            </a:r>
            <a:endParaRPr lang="en-US" sz="1300" dirty="0"/>
          </a:p>
          <a:p>
            <a:endParaRPr sz="1300" dirty="0"/>
          </a:p>
          <a:p>
            <a:r>
              <a:rPr sz="1300" dirty="0" err="1"/>
              <a:t>来源：交易所、Wind、Tushare</a:t>
            </a:r>
            <a:endParaRPr lang="en-US" sz="1300" dirty="0"/>
          </a:p>
          <a:p>
            <a:endParaRPr sz="1300" dirty="0"/>
          </a:p>
          <a:p>
            <a:r>
              <a:rPr sz="1300" dirty="0" err="1"/>
              <a:t>用途：构建趋势、反转、波动率、量仓共振</a:t>
            </a:r>
            <a:endParaRPr lang="en-US" sz="1300" dirty="0"/>
          </a:p>
          <a:p>
            <a:r>
              <a:rPr lang="en-US" sz="1300" dirty="0"/>
              <a:t>             </a:t>
            </a:r>
            <a:r>
              <a:rPr sz="1300" dirty="0" err="1"/>
              <a:t>与微观结构类因子</a:t>
            </a:r>
            <a:endParaRPr lang="en-US" sz="1300" dirty="0"/>
          </a:p>
          <a:p>
            <a:endParaRPr sz="1300" dirty="0"/>
          </a:p>
          <a:p>
            <a:r>
              <a:rPr sz="1300" dirty="0" err="1"/>
              <a:t>频率：覆盖毫秒级到日频</a:t>
            </a:r>
            <a:endParaRPr sz="1300" dirty="0"/>
          </a:p>
        </p:txBody>
      </p:sp>
      <p:sp>
        <p:nvSpPr>
          <p:cNvPr id="10" name="Rounded Rectangle 9"/>
          <p:cNvSpPr/>
          <p:nvPr/>
        </p:nvSpPr>
        <p:spPr>
          <a:xfrm>
            <a:off x="4251960" y="1645920"/>
            <a:ext cx="3703320" cy="429768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645920"/>
            <a:ext cx="37033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5312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7766D"/>
                </a:solidFill>
                <a:latin typeface="Microsoft YaHei"/>
              </a:defRPr>
            </a:pPr>
            <a:r>
              <a:t>基本面数据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337560" cy="182614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sz="1300" dirty="0" err="1"/>
              <a:t>分类：库存、开工率、现货价格、CPI、利率</a:t>
            </a:r>
            <a:endParaRPr lang="en-US" sz="1300" dirty="0"/>
          </a:p>
          <a:p>
            <a:r>
              <a:rPr lang="en-US" sz="1300" dirty="0"/>
              <a:t>            </a:t>
            </a:r>
            <a:r>
              <a:rPr sz="1300" dirty="0" err="1"/>
              <a:t>美元指数、信用利差</a:t>
            </a:r>
            <a:endParaRPr lang="en-US" sz="1300" dirty="0"/>
          </a:p>
          <a:p>
            <a:endParaRPr sz="1300" dirty="0"/>
          </a:p>
          <a:p>
            <a:r>
              <a:rPr sz="1300" dirty="0" err="1"/>
              <a:t>来源：卓创资讯、钢联、上海有色网</a:t>
            </a:r>
            <a:r>
              <a:rPr lang="zh-CN" altLang="en-US" sz="1300" dirty="0"/>
              <a:t>、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彭博</a:t>
            </a:r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/>
          </a:p>
          <a:p>
            <a:r>
              <a:rPr sz="1300" dirty="0" err="1"/>
              <a:t>用途：支持品种强弱排序、行业判断以及宏</a:t>
            </a:r>
            <a:endParaRPr lang="en-US" sz="1300" dirty="0"/>
          </a:p>
          <a:p>
            <a:r>
              <a:rPr lang="en-US" sz="1300" dirty="0"/>
              <a:t>             </a:t>
            </a:r>
            <a:r>
              <a:rPr sz="1300" dirty="0" err="1"/>
              <a:t>观环境识别</a:t>
            </a:r>
            <a:endParaRPr sz="1300" dirty="0"/>
          </a:p>
          <a:p>
            <a:endParaRPr lang="en-US" sz="1300" dirty="0"/>
          </a:p>
          <a:p>
            <a:r>
              <a:rPr sz="1300" dirty="0" err="1"/>
              <a:t>频率：日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周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月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季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 err="1"/>
              <a:t>年都覆盖</a:t>
            </a:r>
            <a:endParaRPr sz="1300" dirty="0"/>
          </a:p>
        </p:txBody>
      </p:sp>
      <p:sp>
        <p:nvSpPr>
          <p:cNvPr id="14" name="Rounded Rectangle 13"/>
          <p:cNvSpPr/>
          <p:nvPr/>
        </p:nvSpPr>
        <p:spPr>
          <a:xfrm>
            <a:off x="7955279" y="1645920"/>
            <a:ext cx="3703320" cy="429768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645920"/>
            <a:ext cx="370332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644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AC7626"/>
                </a:solidFill>
                <a:latin typeface="Microsoft YaHei"/>
              </a:defRPr>
            </a:pPr>
            <a:r>
              <a:t>另类数据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337560" cy="182614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sz="1300" dirty="0" err="1"/>
              <a:t>分类：卫星图像、分析师预测、各类第三方</a:t>
            </a:r>
            <a:endParaRPr lang="en-US" sz="1300" dirty="0"/>
          </a:p>
          <a:p>
            <a:r>
              <a:rPr lang="en-US" sz="1300" dirty="0"/>
              <a:t>             </a:t>
            </a:r>
            <a:r>
              <a:rPr sz="1300" dirty="0" err="1"/>
              <a:t>事件数据</a:t>
            </a:r>
            <a:endParaRPr lang="en-US" sz="1300" dirty="0"/>
          </a:p>
          <a:p>
            <a:endParaRPr sz="1300" dirty="0"/>
          </a:p>
          <a:p>
            <a:r>
              <a:rPr sz="1300" dirty="0" err="1"/>
              <a:t>来源：第三方数据供应商</a:t>
            </a:r>
            <a:endParaRPr sz="1300" dirty="0"/>
          </a:p>
          <a:p>
            <a:endParaRPr lang="en-US" sz="1300" dirty="0"/>
          </a:p>
          <a:p>
            <a:r>
              <a:rPr sz="1300" dirty="0" err="1"/>
              <a:t>用途：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补充传统数据难覆盖的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情况</a:t>
            </a:r>
            <a:r>
              <a:rPr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同时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涵 </a:t>
            </a:r>
            <a:endParaRPr lang="en-US" altLang="zh-CN"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lang="zh-CN" altLang="en-US" sz="13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盖</a:t>
            </a:r>
            <a:r>
              <a:rPr sz="13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各类事件扰动与市场预期变化</a:t>
            </a:r>
            <a:endParaRPr sz="1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sz="1300" dirty="0"/>
          </a:p>
          <a:p>
            <a:r>
              <a:rPr sz="1300" dirty="0" err="1"/>
              <a:t>频率：日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周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月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/>
              <a:t>季</a:t>
            </a:r>
            <a:r>
              <a:rPr lang="en-US" sz="1300" dirty="0"/>
              <a:t> </a:t>
            </a:r>
            <a:r>
              <a:rPr sz="1300" dirty="0"/>
              <a:t>/</a:t>
            </a:r>
            <a:r>
              <a:rPr lang="en-US" sz="1300" dirty="0"/>
              <a:t> </a:t>
            </a:r>
            <a:r>
              <a:rPr sz="1300" dirty="0" err="1"/>
              <a:t>年都覆盖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因子构建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将复杂市场拆解为可量化表达的信号模块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3611880" cy="448056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361188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t>量价因子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9736"/>
            <a:ext cx="3246120" cy="2646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分类：趋势类、反转类</a:t>
            </a:r>
            <a:r>
              <a:rPr dirty="0"/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微观</a:t>
            </a:r>
            <a:r>
              <a:rPr dirty="0" err="1"/>
              <a:t>结构、高频类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示例：双均线、收益率偏度、能量潮、订单</a:t>
            </a:r>
            <a:endParaRPr lang="en-US"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/>
              <a:t>          </a:t>
            </a:r>
            <a:r>
              <a:rPr dirty="0" err="1"/>
              <a:t>簿不平衡、微价格偏差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优点：更新频率高、响应速度快、可直接映</a:t>
            </a:r>
            <a:r>
              <a:rPr lang="en-US" dirty="0"/>
              <a:t> 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/>
              <a:t>          </a:t>
            </a:r>
            <a:r>
              <a:rPr dirty="0" err="1"/>
              <a:t>射交易行为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适配：适合趋势主导、波动放大、情绪切</a:t>
            </a:r>
            <a:r>
              <a:rPr lang="en-US" dirty="0"/>
              <a:t>     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/>
              <a:t>          </a:t>
            </a:r>
            <a:r>
              <a:rPr dirty="0" err="1"/>
              <a:t>换较快的阶段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特点：对行情拐点敏感，但对噪声和交易成</a:t>
            </a:r>
            <a:endParaRPr lang="en-US"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/>
              <a:t>          </a:t>
            </a:r>
            <a:r>
              <a:rPr dirty="0" err="1"/>
              <a:t>本也更敏感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97680" y="1691640"/>
            <a:ext cx="3611880" cy="448056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361188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884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t>基本面因子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459736"/>
            <a:ext cx="3246120" cy="2041585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分类：产业基本面因子、宏观因子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示例</a:t>
            </a:r>
            <a:r>
              <a:rPr dirty="0"/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库存策略、期限结构、宏观策略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优点：经济含义清晰、跨周期解释力强、稳</a:t>
            </a:r>
            <a:endParaRPr lang="en-US"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/>
              <a:t>          </a:t>
            </a:r>
            <a:r>
              <a:rPr dirty="0" err="1"/>
              <a:t>定性较好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适配：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适合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大周期判断以及单品种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产业链  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强弱配置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特点：更新频率相对较低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数据质量不稳定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001000" y="1691640"/>
            <a:ext cx="3611880" cy="448056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691640"/>
            <a:ext cx="361188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t>另类因子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459736"/>
            <a:ext cx="3246120" cy="173893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分类：事件驱动类、替代数据类、预期类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示例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分析师预期、卫星数据策略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优点：信息增量高，能捕捉传统因子难覆盖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的变化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适配：适合突发事件驱动或常规信号拥挤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特点</a:t>
            </a:r>
            <a:r>
              <a:rPr dirty="0"/>
              <a:t>：</a:t>
            </a:r>
            <a:r>
              <a:rPr lang="en-US" dirty="0"/>
              <a:t> </a:t>
            </a:r>
            <a:r>
              <a:rPr dirty="0" err="1"/>
              <a:t>噪声较高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，需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大量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清洗和验证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评估体系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不仅评估单因子收益，还评估其对现有组合的边际增益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24231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42316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1942" y="185623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 dirty="0" err="1"/>
              <a:t>基础指标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795528" y="2368296"/>
            <a:ext cx="2057400" cy="3131627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夏普比率</a:t>
            </a: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最大回撤深度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最大回撤时间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持仓周期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容量约束</a:t>
            </a:r>
            <a:endParaRPr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滑点敏感度</a:t>
            </a: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246120" y="164592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726679" y="164592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3246120" y="379476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726679" y="379476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增量评估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通过新因子累计与残差累计判断新增信号对原组合的边际贡献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31720" y="1463040"/>
          <a:ext cx="7543800" cy="21625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259840"/>
            <a:ext cx="75438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Microsoft YaHei"/>
              </a:rPr>
              <a:t>累计收益率/累计残差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727196"/>
            <a:ext cx="75438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latin typeface="Microsoft YaHei"/>
              </a:rPr>
              <a:t>因子收益率_t = α + β · Portfolio收益率_t + ε_t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4104640"/>
            <a:ext cx="7543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/>
              <a:t>日内累计收益率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2331720" y="4409440"/>
          <a:ext cx="7543800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投资组合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组合不是简单叠加高Sharpe因子，而是在相关性约束下实现稳定输出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00000" y="1645920"/>
            <a:ext cx="470000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20000" y="1901952"/>
            <a:ext cx="426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t>核心原则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波动率标准化后再合成权重</a:t>
            </a: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新因子与现有组合须保持低相关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评估标准是整体组合增益，而非单腿收益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单策略权重设上限，防止局部主导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62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00000" y="1645920"/>
            <a:ext cx="470000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0000" y="1901952"/>
            <a:ext cx="426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t>落地判断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优先参数高原，避免参数尖峰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关注净值平滑度与回撤修复速度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相关性、容量与换手联合约束</a:t>
            </a:r>
            <a:endParaRPr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dirty="0"/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dirty="0" err="1"/>
              <a:t>同等收益下优选低交易成本方案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风控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rPr>
                <a:solidFill>
                  <a:srgbClr val="64748B"/>
                </a:solidFill>
              </a:rPr>
              <a:t>风控目标不是压制收益，而是确保组合在极端环境下仍可管理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500000" cy="155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2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0000" y="1860000"/>
            <a:ext cx="98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硬约束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0000" y="2260000"/>
            <a:ext cx="9800000" cy="7600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VaR约束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：某一置信水平下，投资组合在持有一定时间范围的可能的最大损失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投资限制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：各品种</a:t>
            </a:r>
            <a:r>
              <a:rPr lang="en-US" altLang="zh-CN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板块或整体对应的限制，例如开仓限制，杠杆比例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单品种与单板块集中度限制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：单品种</a:t>
            </a:r>
            <a:r>
              <a:rPr lang="en-US" altLang="zh-CN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板块占整体仓位不能超过一定比例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5200000"/>
            <a:ext cx="10500000" cy="150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0000" y="5440000"/>
            <a:ext cx="98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异常情况处理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000" y="5840000"/>
            <a:ext cx="9800000" cy="489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无法按常规方式平仓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，需</a:t>
            </a: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人工接管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异常行情结束后</a:t>
            </a:r>
            <a:r>
              <a:rPr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恢复正常流程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3340000"/>
            <a:ext cx="10500000" cy="172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34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0000" y="3580000"/>
            <a:ext cx="98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仓位系数管理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00" y="3980000"/>
            <a:ext cx="9800000" cy="1018227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第一层：节假日前后，按流动性与跳空风险调整仓位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第二层：触发预警线、止损线后，自动调整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投资组合</a:t>
            </a: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仓位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第三层：当某类策略持续回撤时，逐步下调该策略</a:t>
            </a:r>
            <a:r>
              <a:rPr lang="zh-CN" altLang="en-US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的仓位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</a:rPr>
              <a:t>08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00000"/>
            <a:ext cx="10500000" cy="146304"/>
          </a:xfrm>
          <a:prstGeom prst="rect">
            <a:avLst/>
          </a:prstGeom>
          <a:solidFill>
            <a:srgbClr val="36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交易执行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执行不是末端细节，而是影响策略收益兑现的关键环节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074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50749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68788" y="1993391"/>
            <a:ext cx="278326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 dirty="0" err="1"/>
              <a:t>VWAP为主，TWAP为辅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4709159" cy="135934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适用场景</a:t>
            </a:r>
            <a:r>
              <a:rPr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常规日度</a:t>
            </a: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调仓</a:t>
            </a:r>
            <a:endParaRPr 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对应执行量</a:t>
            </a:r>
            <a:r>
              <a:rPr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较小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核心目标：降低冲击成本</a:t>
            </a:r>
            <a:r>
              <a:rPr 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兼顾成交效率</a:t>
            </a:r>
            <a:endParaRPr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737360"/>
            <a:ext cx="5074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737360"/>
            <a:ext cx="50749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09467" y="1993391"/>
            <a:ext cx="278326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rPr dirty="0" err="1"/>
              <a:t>TWAP为主，VWAP为辅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464807" y="2487166"/>
            <a:ext cx="4709159" cy="135934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适用场景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产品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建仓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产品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清仓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合约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换月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对应执行量</a:t>
            </a:r>
            <a:r>
              <a:rPr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500"/>
              </a:spcAft>
              <a:defRPr sz="1400">
                <a:solidFill>
                  <a:srgbClr val="323944"/>
                </a:solidFill>
                <a:latin typeface="Microsoft YaHei"/>
              </a:defRPr>
            </a:pP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核心目标：平滑市场冲击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提高执行可控性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5C9E"/>
          </a:solidFill>
          <a:ln>
            <a:solidFill>
              <a:srgbClr val="2B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</a:rPr>
              <a:t>以统一框架打通数据、研究与交易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10972800" cy="448056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10972800" cy="146304"/>
          </a:xfrm>
          <a:prstGeom prst="rect">
            <a:avLst/>
          </a:prstGeom>
          <a:solidFill>
            <a:srgbClr val="2B5C9E"/>
          </a:solidFill>
          <a:ln>
            <a:solidFill>
              <a:srgbClr val="2B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947672"/>
            <a:ext cx="105704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</a:rPr>
              <a:t>关键结论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9736"/>
            <a:ext cx="10607040" cy="324191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数据层：先保证连续性、准确性、可追溯性，再追求覆盖广度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因子层：以经济逻辑为先、统计显著为证，避免过拟合与样本偏见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评估层：同时看收益、回撤、容量、换手和交易成本的综合表现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组合层：通过低相关信号叠加提升稳定性，而非单因子收益最大化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风控层：用硬约束控制尾部风险，用动态仓位管理平滑净值波动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执行层：以可成交性为核心，持续优化冲击成本与滑点控制</a:t>
            </a:r>
            <a:endParaRPr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endParaRPr lang="en-US" sz="1300" dirty="0">
              <a:solidFill>
                <a:srgbClr val="475569"/>
              </a:solidFill>
            </a:endParaRPr>
          </a:p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Microsoft YaHei"/>
              </a:defRPr>
            </a:pPr>
            <a:r>
              <a:rPr sz="1300" dirty="0" err="1">
                <a:solidFill>
                  <a:srgbClr val="475569"/>
                </a:solidFill>
              </a:rPr>
              <a:t>迭代机制：坚持监控、复盘、再训练与参数校准的周期化更新</a:t>
            </a:r>
            <a:endParaRPr sz="1300" dirty="0">
              <a:solidFill>
                <a:srgbClr val="475569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581</Words>
  <Application>Microsoft Office PowerPoint</Application>
  <PresentationFormat>宽屏</PresentationFormat>
  <Paragraphs>179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微软雅黑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恺诚 刘</cp:lastModifiedBy>
  <cp:revision>49</cp:revision>
  <dcterms:created xsi:type="dcterms:W3CDTF">2013-01-27T09:14:16Z</dcterms:created>
  <dcterms:modified xsi:type="dcterms:W3CDTF">2026-06-23T06:56:11Z</dcterms:modified>
  <cp:category/>
</cp:coreProperties>
</file>